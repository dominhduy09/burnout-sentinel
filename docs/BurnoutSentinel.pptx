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0_0.xml" ContentType="application/vnd.ms-powerpoint.comments+xml"/>
  <Override PartName="/ppt/notesSlides/notesSlide2.xml" ContentType="application/vnd.openxmlformats-officedocument.presentationml.notesSlide+xml"/>
  <Override PartName="/ppt/comments/modernComment_101_0.xml" ContentType="application/vnd.ms-powerpoint.comments+xml"/>
  <Override PartName="/ppt/notesSlides/notesSlide3.xml" ContentType="application/vnd.openxmlformats-officedocument.presentationml.notesSlide+xml"/>
  <Override PartName="/ppt/comments/modernComment_102_0.xml" ContentType="application/vnd.ms-powerpoint.comments+xml"/>
  <Override PartName="/ppt/notesSlides/notesSlide4.xml" ContentType="application/vnd.openxmlformats-officedocument.presentationml.notesSlide+xml"/>
  <Override PartName="/ppt/comments/modernComment_103_0.xml" ContentType="application/vnd.ms-powerpoint.comments+xml"/>
  <Override PartName="/ppt/notesSlides/notesSlide5.xml" ContentType="application/vnd.openxmlformats-officedocument.presentationml.notesSlide+xml"/>
  <Override PartName="/ppt/comments/modernComment_104_0.xml" ContentType="application/vnd.ms-powerpoint.comments+xml"/>
  <Override PartName="/ppt/notesSlides/notesSlide6.xml" ContentType="application/vnd.openxmlformats-officedocument.presentationml.notesSlide+xml"/>
  <Override PartName="/ppt/comments/modernComment_105_0.xml" ContentType="application/vnd.ms-powerpoint.comments+xml"/>
  <Override PartName="/ppt/notesSlides/notesSlide7.xml" ContentType="application/vnd.openxmlformats-officedocument.presentationml.notesSlide+xml"/>
  <Override PartName="/ppt/comments/modernComment_106_0.xml" ContentType="application/vnd.ms-powerpoint.comments+xml"/>
  <Override PartName="/ppt/notesSlides/notesSlide8.xml" ContentType="application/vnd.openxmlformats-officedocument.presentationml.notesSlide+xml"/>
  <Override PartName="/ppt/comments/modernComment_107_0.xml" ContentType="application/vnd.ms-powerpoint.comments+xml"/>
  <Override PartName="/ppt/notesSlides/notesSlide9.xml" ContentType="application/vnd.openxmlformats-officedocument.presentationml.notesSlide+xml"/>
  <Override PartName="/ppt/comments/modernComment_108_0.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F16FA8A-D8DD-408F-FE95-A033B3E8DD2D}" name="Do, Duy" initials="DD" userId="S::mdo2@uab.edu::89e28bd4-784a-4518-87ad-183e9559ddb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05"/>
    <p:restoredTop sz="94610"/>
  </p:normalViewPr>
  <p:slideViewPr>
    <p:cSldViewPr snapToGrid="0" snapToObjects="1">
      <p:cViewPr varScale="1">
        <p:scale>
          <a:sx n="161" d="100"/>
          <a:sy n="161" d="100"/>
        </p:scale>
        <p:origin x="208" y="10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omments/modernComment_100_0.xml><?xml version="1.0" encoding="utf-8"?>
<p188:cmLst xmlns:a="http://schemas.openxmlformats.org/drawingml/2006/main" xmlns:r="http://schemas.openxmlformats.org/officeDocument/2006/relationships" xmlns:p188="http://schemas.microsoft.com/office/powerpoint/2018/8/main">
  <p188:cm id="{3ABF7EF3-0CE8-3544-AA63-29F66FE1175E}" authorId="{AF16FA8A-D8DD-408F-FE95-A033B3E8DD2D}" created="2026-04-19T06:31:32.830">
    <pc:sldMkLst xmlns:pc="http://schemas.microsoft.com/office/powerpoint/2013/main/command">
      <pc:docMk/>
      <pc:sldMk cId="0" sldId="256"/>
    </pc:sldMkLst>
    <p188:txBody>
      <a:bodyPr/>
      <a:lstStyle/>
      <a:p>
        <a:r>
          <a:rPr lang="en-US"/>
          <a:t>Hello everyone. Our project is Burnout Sentinel — an early warning system for student burnout.
We are currently at version 0.4.0, and what you are seeing today is a working MVP prototype, not just a concept.
The core question driving this project is: what if a planner could tell you not only what you have to do this week, but whether that week is becoming unhealthy?
</a:t>
        </a:r>
      </a:p>
    </p188:txBody>
  </p188:cm>
  <p188:cm id="{45C3CFE1-B1A8-DA42-AAF6-496F4C1EF79E}" authorId="{AF16FA8A-D8DD-408F-FE95-A033B3E8DD2D}" created="2026-04-19T06:38:45.675">
    <pc:sldMkLst xmlns:pc="http://schemas.microsoft.com/office/powerpoint/2013/main/command">
      <pc:docMk/>
      <pc:sldMk cId="0" sldId="256"/>
    </pc:sldMkLst>
    <p188:txBody>
      <a:bodyPr/>
      <a:lstStyle/>
      <a:p>
        <a:r>
          <a:rPr lang="en-US"/>
          <a:t>Hello everyone. Our project is Burnout Sentinel — an early warning system for student burnout.
This is version 0.4.0, a working MVP prototype built for UAB students in high-demand academic programs.
Our central research question is: can a machine learning-supported planning tool help students identify overload and reduce burnout risk by providing personalized weekly planning recommendations?
Everything you will see today is our answer to that question.
</a:t>
        </a:r>
      </a:p>
    </p188:txBody>
  </p188:cm>
</p188:cmLst>
</file>

<file path=ppt/comments/modernComment_101_0.xml><?xml version="1.0" encoding="utf-8"?>
<p188:cmLst xmlns:a="http://schemas.openxmlformats.org/drawingml/2006/main" xmlns:r="http://schemas.openxmlformats.org/officeDocument/2006/relationships" xmlns:p188="http://schemas.microsoft.com/office/powerpoint/2018/8/main">
  <p188:cm id="{0361E0D8-4CFE-DC40-B60C-7627B0A327AC}" authorId="{AF16FA8A-D8DD-408F-FE95-A033B3E8DD2D}" created="2026-04-19T06:31:50.613">
    <pc:sldMkLst xmlns:pc="http://schemas.microsoft.com/office/powerpoint/2013/main/command">
      <pc:docMk/>
      <pc:sldMk cId="0" sldId="257"/>
    </pc:sldMkLst>
    <p188:txBody>
      <a:bodyPr/>
      <a:lstStyle/>
      <a:p>
        <a:r>
          <a:rPr lang="en-US"/>
          <a:t>Students in demanding programs carry overloaded weeks regularly. Classes, labs, exams, clinical shifts, assignments, and personal obligations all compete for the same time.
76% of students report moderate to high stress weekly. 3 in 4 feel overwhelmed at some point in a semester. And most only seek help after burnout has already set in.
The core problem is this: traditional planners track tasks — but not health. Students have no signal telling them when their schedule has crossed into dangerous territory. By the time they feel the impact, sleep, performance, and well-being are already compromised.
</a:t>
        </a:r>
      </a:p>
    </p188:txBody>
  </p188:cm>
  <p188:cm id="{6583D01D-8741-9149-9926-F87C57D60490}" authorId="{AF16FA8A-D8DD-408F-FE95-A033B3E8DD2D}" created="2026-04-19T06:39:03.587">
    <pc:sldMkLst xmlns:pc="http://schemas.microsoft.com/office/powerpoint/2013/main/command">
      <pc:docMk/>
      <pc:sldMk cId="0" sldId="257"/>
    </pc:sldMkLst>
    <p188:txBody>
      <a:bodyPr/>
      <a:lstStyle/>
      <a:p>
        <a:r>
          <a:rPr lang="en-US"/>
          <a:t>Students in high-demand programs — especially healthcare-related disciplines — often carry more than 20 tasks per week. Coursework, labs, clinical rotations, exams, projects, and personal obligations all compete for the same limited time.
When these demands build up, students experience more than just stress. Burnout affects motivation, concentration, emotional well-being, and academic performance. For students in health fields, it can also erode confidence and long-term career readiness.
The problem is not that students are unaware of their tasks. The problem is that existing planning tools are purely productivity tools. They track volume, but they do not evaluate whether a student's schedule is realistic or healthy.
By the time burnout symptoms appear, sleep, performance, and well-being are already compromised. Students need a signal earlier than that.
</a:t>
        </a:r>
      </a:p>
    </p188:txBody>
  </p188:cm>
</p188:cmLst>
</file>

<file path=ppt/comments/modernComment_102_0.xml><?xml version="1.0" encoding="utf-8"?>
<p188:cmLst xmlns:a="http://schemas.openxmlformats.org/drawingml/2006/main" xmlns:r="http://schemas.openxmlformats.org/officeDocument/2006/relationships" xmlns:p188="http://schemas.microsoft.com/office/powerpoint/2018/8/main">
  <p188:cm id="{F13F5B09-F655-4341-810E-36D33E532A59}" authorId="{AF16FA8A-D8DD-408F-FE95-A033B3E8DD2D}" created="2026-04-19T06:32:06.440">
    <pc:sldMkLst xmlns:pc="http://schemas.microsoft.com/office/powerpoint/2013/main/command">
      <pc:docMk/>
      <pc:sldMk cId="0" sldId="258"/>
    </pc:sldMkLst>
    <p188:txBody>
      <a:bodyPr/>
      <a:lstStyle/>
      <a:p>
        <a:r>
          <a:rPr lang="en-US"/>
          <a:t>Burnout Sentinel combines planning with explainable risk analysis.
On the left, a student enters their weekly inputs. Workload covers tasks, study hours, exam load, and clinical hours. Recovery covers sleep, stress level, and free buffer time. Priority captures high-stakes deadlines and clustering of difficult work.
On the right, the system returns a burnout risk score from 0 to 100, a risk level of Low, Moderate, or High, the contributing factors behind that score, and actionable recommendations for improving balance.
The key word is explainable. Users see exactly why the score is what it is.
</a:t>
        </a:r>
      </a:p>
    </p188:txBody>
  </p188:cm>
  <p188:cm id="{5455A636-8D74-0446-8990-B1B0122D626F}" authorId="{AF16FA8A-D8DD-408F-FE95-A033B3E8DD2D}" created="2026-04-19T06:39:40.298">
    <pc:sldMkLst xmlns:pc="http://schemas.microsoft.com/office/powerpoint/2013/main/command">
      <pc:docMk/>
      <pc:sldMk cId="0" sldId="258"/>
    </pc:sldMkLst>
    <p188:txBody>
      <a:bodyPr/>
      <a:lstStyle/>
      <a:p>
        <a:r>
          <a:rPr lang="en-US"/>
          <a:t>Burnout Sentinel lets students enter their weekly inputs and immediately receive an explainable risk assessment.
On the workload side: total tasks, high-priority tasks, study hours, exam count, and clinical hours. On the recovery side: average sleep, self-reported stress from 1 to 10, and free buffer time.
Our hypothesis — drawn from burnout research — is that higher task volume, greater time demands, reduced sleep, and limited recovery time predict higher burnout risk. The system tests that hypothesis against every week a student enters.
The output is a score from 0 to 100, a risk label, the contributing factors behind that score, and specific recommendations for rebalancing the week. Not a black box — every number is explained.
</a:t>
        </a:r>
      </a:p>
    </p188:txBody>
  </p188:cm>
</p188:cmLst>
</file>

<file path=ppt/comments/modernComment_103_0.xml><?xml version="1.0" encoding="utf-8"?>
<p188:cmLst xmlns:a="http://schemas.openxmlformats.org/drawingml/2006/main" xmlns:r="http://schemas.openxmlformats.org/officeDocument/2006/relationships" xmlns:p188="http://schemas.microsoft.com/office/powerpoint/2018/8/main">
  <p188:cm id="{FCF9AD62-BDCD-2147-9DCD-4C76F765D4C1}" authorId="{AF16FA8A-D8DD-408F-FE95-A033B3E8DD2D}" created="2026-04-19T06:32:22.120">
    <pc:sldMkLst xmlns:pc="http://schemas.microsoft.com/office/powerpoint/2013/main/command">
      <pc:docMk/>
      <pc:sldMk cId="0" sldId="259"/>
    </pc:sldMkLst>
    <p188:txBody>
      <a:bodyPr/>
      <a:lstStyle/>
      <a:p>
        <a:r>
          <a:rPr lang="en-US"/>
          <a:t>The scoring engine works in four steps.
First, we calculate a workload signal — tasks, exams, study hours, and clinical hours are normalized and weighted by severity.
Second, we calculate a recovery signal — sleep deficit, stress level, and missing buffer time are scored as deficit metrics.
Third, risk amplifiers are applied. Compressed task clustering and high-priority overlap boost the score non-linearly, because those patterns are especially predictive of overload.
Fourth, the final score is bucketed into Low, Moderate, or High, with explanations attached.
The most important design choice is at the bottom: no black box. Users see exactly why their score changed and what to adjust first.
</a:t>
        </a:r>
      </a:p>
    </p188:txBody>
  </p188:cm>
  <p188:cm id="{66D2F642-BC5C-9D4F-A76F-38C7D663BB99}" authorId="{AF16FA8A-D8DD-408F-FE95-A033B3E8DD2D}" created="2026-04-19T06:39:55.894">
    <pc:sldMkLst xmlns:pc="http://schemas.microsoft.com/office/powerpoint/2013/main/command">
      <pc:docMk/>
      <pc:sldMk cId="0" sldId="259"/>
    </pc:sldMkLst>
    <p188:txBody>
      <a:bodyPr/>
      <a:lstStyle/>
      <a:p>
        <a:r>
          <a:rPr lang="en-US"/>
          <a:t>The scoring engine works in two layers — base risk and amplifiers.
For base risk, we normalize five workload pressures: task count, critical tasks, total load hours, exam count, and clinical hours. We combine those into a demand score, then add a recovery deficit score from sleep and buffer time, and a stress signal from the student's self-report. The base risk formula weights demand at 55%, recovery deficit at 30%, and stress at 15%.
The second layer is amplifiers. Sleep deficit and buffer deficit do not just add points — they multiply the impact of demand. Low sleep means the same workload hits harder. This is intentional and matches how burnout actually works. Additional amplifiers apply for task compression, deadline clustering, and extended clinical hours.
What makes this explainable is how we decompose the final score. We calculate the score sequentially — base, then each amplifier — and take the delta at each step. So the UI can show exactly: "Sleep amplifier added 11 points. Buffer amplifier added 5 points." Users see the math, not just the outcome.
</a:t>
        </a:r>
      </a:p>
    </p188:txBody>
  </p188:cm>
</p188:cmLst>
</file>

<file path=ppt/comments/modernComment_104_0.xml><?xml version="1.0" encoding="utf-8"?>
<p188:cmLst xmlns:a="http://schemas.openxmlformats.org/drawingml/2006/main" xmlns:r="http://schemas.openxmlformats.org/officeDocument/2006/relationships" xmlns:p188="http://schemas.microsoft.com/office/powerpoint/2018/8/main">
  <p188:cm id="{B662E6EA-C54E-B449-AD87-84BC94D1D5E4}" authorId="{AF16FA8A-D8DD-408F-FE95-A033B3E8DD2D}" created="2026-04-19T06:32:48.304">
    <pc:sldMkLst xmlns:pc="http://schemas.microsoft.com/office/powerpoint/2013/main/command">
      <pc:docMk/>
      <pc:sldMk cId="0" sldId="260"/>
    </pc:sldMkLst>
    <p188:txBody>
      <a:bodyPr/>
      <a:lstStyle/>
      <a:p>
        <a:r>
          <a:rPr lang="en-US"/>
          <a:t>Let me walk you through what the app actually does today.
The live risk scoring panel calls our FastAPI endpoint at /api/v1/analyze and returns an explainable score and label in real time as you update your inputs.
The what-if simulator is one of the most useful features — you can test a different schedule before committing and immediately see how the score changes.
The trend chart saves weekly snapshots and tracks risk over time, with drag-and-drop panel reordering so students can organize their view.
We also built a Research Signal feed — a daily page of validated external research links with infinite scroll, so students can connect their experience to actual literature.
Auth and session management is in place, with a full login and signup flow. And the app plays state-specific audio and visual feedback when risk levels change or preset actions are triggered.
</a:t>
        </a:r>
      </a:p>
    </p188:txBody>
  </p188:cm>
  <p188:cm id="{C569DF67-1B0D-5D4D-B2CB-7B5DB8E674D7}" authorId="{AF16FA8A-D8DD-408F-FE95-A033B3E8DD2D}" created="2026-04-19T06:40:46.564">
    <pc:sldMkLst xmlns:pc="http://schemas.microsoft.com/office/powerpoint/2013/main/command">
      <pc:docMk/>
      <pc:sldMk cId="0" sldId="260"/>
    </pc:sldMkLst>
    <p188:txBody>
      <a:bodyPr/>
      <a:lstStyle/>
      <a:p>
        <a:r>
          <a:rPr lang="en-US"/>
          <a:t>Let me show you what the app does today.
The what-if simulator is the feature we are most proud of. You adjust sliders — reduce two tasks, add an hour of sleep — and the risk score updates instantly. The app ranks improvement suggestions automatically and shows you the best moves first. For example: "Reduce 2 tasks and sleep one hour more — risk drops from 76 to 52." Students can treat the planner like a control panel, not just a report.
The live risk scoring panel calls our FastAPI endpoint at /api/v1/analyze and returns an explainable score and label in real time. The score breakdown shows the largest point contributors so students know exactly what to change first.
The trend chart saves weekly snapshots and plots risk over time with threshold lines at 40 for Moderate and 70 for High — so you can see at a glance whether a student's health is improving or worsening week over week.
We also built a Research Signal feed — validated external research links with infinite scroll — so students can connect their experience to the literature behind this scoring model. And the app has a full login and signup flow with state-specific audio and visual feedback.
</a:t>
        </a:r>
      </a:p>
    </p188:txBody>
  </p188:cm>
</p188:cmLst>
</file>

<file path=ppt/comments/modernComment_105_0.xml><?xml version="1.0" encoding="utf-8"?>
<p188:cmLst xmlns:a="http://schemas.openxmlformats.org/drawingml/2006/main" xmlns:r="http://schemas.openxmlformats.org/officeDocument/2006/relationships" xmlns:p188="http://schemas.microsoft.com/office/powerpoint/2018/8/main">
  <p188:cm id="{EE7684F7-E194-614F-AF63-31E1BDD866E8}" authorId="{AF16FA8A-D8DD-408F-FE95-A033B3E8DD2D}" created="2026-04-19T06:33:03.826">
    <pc:sldMkLst xmlns:pc="http://schemas.microsoft.com/office/powerpoint/2013/main/command">
      <pc:docMk/>
      <pc:sldMk cId="0" sldId="261"/>
    </pc:sldMkLst>
    <p188:txBody>
      <a:bodyPr/>
      <a:lstStyle/>
      <a:p>
        <a:r>
          <a:rPr lang="en-US"/>
          <a:t>The stack is built for real production use.
The frontend runs on Next.js with TypeScript, styled with Tailwind CSS, and uses Recharts for visualizations and Zod for input validation.
The backend is FastAPI with Python and Pydantic, exposing the /api/v1/analyze endpoint.
For auth and data, we have a cookie-session flow today, with Prisma ORM and SQLite for MVP persistence. The stack is already set up to upgrade to PostgreSQL and NextAuth or Clerk when needed.
The most important architectural decision is shown at the bottom of the diagram: the scoring engine is fully decoupled from the frontend. When we have enough data to train a scikit-learn model, we swap the engine without touching a single line of frontend code.
</a:t>
        </a:r>
      </a:p>
    </p188:txBody>
  </p188:cm>
  <p188:cm id="{175CA072-3D2D-E744-95F0-256289A09600}" authorId="{AF16FA8A-D8DD-408F-FE95-A033B3E8DD2D}" created="2026-04-19T06:41:07.451">
    <pc:sldMkLst xmlns:pc="http://schemas.microsoft.com/office/powerpoint/2013/main/command">
      <pc:docMk/>
      <pc:sldMk cId="0" sldId="261"/>
    </pc:sldMkLst>
    <p188:txBody>
      <a:bodyPr/>
      <a:lstStyle/>
      <a:p>
        <a:r>
          <a:rPr lang="en-US"/>
          <a:t>The stack is built for real production use and is already partially deployed.
The frontend runs on Next.js with TypeScript, styled with Tailwind CSS, Recharts for visualizations, and Zod for input validation. The backend is FastAPI with Python and Pydantic, deployed on Render. The frontend deploys to Vercel.
For auth and data persistence, we have a cookie-session flow today with Prisma ORM and SQLite for MVP storage. The stack is ready to upgrade to PostgreSQL and NextAuth or Clerk when needed.
The most important architectural decision is at the bottom of the diagram: the scoring engine is fully decoupled from the frontend. When we collect enough pilot data to train a scikit-learn model — logistic regression, decision tree, or random forest — we replace the engine without changing a single line of frontend code. The API contract stays the same.
</a:t>
        </a:r>
      </a:p>
    </p188:txBody>
  </p188:cm>
</p188:cmLst>
</file>

<file path=ppt/comments/modernComment_106_0.xml><?xml version="1.0" encoding="utf-8"?>
<p188:cmLst xmlns:a="http://schemas.openxmlformats.org/drawingml/2006/main" xmlns:r="http://schemas.openxmlformats.org/officeDocument/2006/relationships" xmlns:p188="http://schemas.microsoft.com/office/powerpoint/2018/8/main">
  <p188:cm id="{12124D1B-2F54-A94C-8B1B-6786ECCCFD72}" authorId="{AF16FA8A-D8DD-408F-FE95-A033B3E8DD2D}" created="2026-04-19T06:33:15.868">
    <pc:sldMkLst xmlns:pc="http://schemas.microsoft.com/office/powerpoint/2013/main/command">
      <pc:docMk/>
      <pc:sldMk cId="0" sldId="262"/>
    </pc:sldMkLst>
    <p188:txBody>
      <a:bodyPr/>
      <a:lstStyle/>
      <a:p>
        <a:r>
          <a:rPr lang="en-US"/>
          <a:t>This project shifts burnout support from reactive to preventive.
Right now, students wait until they feel overwhelmed before making changes. Burnout Sentinel gives them early indicators during planning — before they commit to an unhealthy week.
The three outcomes we are targeting are: early detection, so students catch overload during planning; better decisions, using the what-if simulator before they finalize their week; and long-term academic sustainability, reducing burnout-driven performance decline and withdrawal.
</a:t>
        </a:r>
      </a:p>
    </p188:txBody>
  </p188:cm>
  <p188:cm id="{43B8850C-7B06-FF49-8B53-74C70F674606}" authorId="{AF16FA8A-D8DD-408F-FE95-A033B3E8DD2D}" created="2026-04-19T06:41:36.833">
    <pc:sldMkLst xmlns:pc="http://schemas.microsoft.com/office/powerpoint/2013/main/command">
      <pc:docMk/>
      <pc:sldMk cId="0" sldId="262"/>
    </pc:sldMkLst>
    <p188:txBody>
      <a:bodyPr/>
      <a:lstStyle/>
      <a:p>
        <a:r>
          <a:rPr lang="en-US"/>
          <a:t>This project sits at the intersection of computer science, student wellness, and public health. Rather than measuring burnout after it happens, the focus is prevention.
The shift we are proposing is simple: Reactive → Preventive. Instead of waiting until students feel overwhelmed, Burnout Sentinel gives them early indicators during planning — before they commit to a week that will cost them.
If this tool works as designed, the outcomes are better time-management awareness, earlier recognition of overload, healthier study habits, and a more sustainable academic experience for high-stress student populations.
For UAB students in health-related disciplines specifically — where burnout can affect not just GPA but clinical confidence and career readiness — this is not a nice-to-have. It is a genuine support gap worth filling.
</a:t>
        </a:r>
      </a:p>
    </p188:txBody>
  </p188:cm>
</p188:cmLst>
</file>

<file path=ppt/comments/modernComment_107_0.xml><?xml version="1.0" encoding="utf-8"?>
<p188:cmLst xmlns:a="http://schemas.openxmlformats.org/drawingml/2006/main" xmlns:r="http://schemas.openxmlformats.org/officeDocument/2006/relationships" xmlns:p188="http://schemas.microsoft.com/office/powerpoint/2018/8/main">
  <p188:cm id="{5071D8F7-13E5-5440-AED6-F3556FD86145}" authorId="{AF16FA8A-D8DD-408F-FE95-A033B3E8DD2D}" created="2026-04-19T06:33:28.081">
    <pc:sldMkLst xmlns:pc="http://schemas.microsoft.com/office/powerpoint/2013/main/command">
      <pc:docMk/>
      <pc:sldMk cId="0" sldId="263"/>
    </pc:sldMkLst>
    <p188:txBody>
      <a:bodyPr/>
      <a:lstStyle/>
      <a:p>
        <a:r>
          <a:rPr lang="en-US"/>
          <a:t>Our next step is the most significant: replacing the rules-based scoring engine with a trained scikit-learn model once we collect enough pilot data from real users. The architecture is ready for this swap today.
After that, we add schedule persistence — upgrading from in-memory sessions to SQLite, then PostgreSQL, so students can track their risk week over week.
Step three is full user accounts, upgrading the current cookie-session auth to OAuth or Clerk with per-user multi-week history.
And step four is campus integration — optional pathways to student wellness resources when risk stays elevated across multiple weeks.
</a:t>
        </a:r>
      </a:p>
    </p188:txBody>
  </p188:cm>
  <p188:cm id="{2C39CBA9-0590-3A4E-A27F-9D7591612034}" authorId="{AF16FA8A-D8DD-408F-FE95-A033B3E8DD2D}" created="2026-04-19T06:41:56.487">
    <pc:sldMkLst xmlns:pc="http://schemas.microsoft.com/office/powerpoint/2013/main/command">
      <pc:docMk/>
      <pc:sldMk cId="0" sldId="263"/>
    </pc:sldMkLst>
    <p188:txBody>
      <a:bodyPr/>
      <a:lstStyle/>
      <a:p>
        <a:r>
          <a:rPr lang="en-US"/>
          <a:t>Our immediate next step is replacing the rules-based engine with a trained scikit-learn model. The architecture supports this today — it is a backend swap, not a rebuild.
To validate the model, we will evaluate it two ways: model evaluation checks whether the system correctly identifies overloaded schedules, and user evaluation asks students whether the tool is useful, clear, and relevant to their actual experience. Measures include prediction accuracy, usability feedback, perceived usefulness, and willingness to use the tool weekly.
After model validation, we add schedule persistence — SQLite to PostgreSQL — so students can track their risk across an entire semester. Step three is full user accounts with OAuth or Clerk and per-user multi-week trend history. And step four is optional campus integration: pathways to UAB student wellness resources when risk stays elevated over multiple weeks.
</a:t>
        </a:r>
      </a:p>
    </p188:txBody>
  </p188:cm>
</p188:cmLst>
</file>

<file path=ppt/comments/modernComment_108_0.xml><?xml version="1.0" encoding="utf-8"?>
<p188:cmLst xmlns:a="http://schemas.openxmlformats.org/drawingml/2006/main" xmlns:r="http://schemas.openxmlformats.org/officeDocument/2006/relationships" xmlns:p188="http://schemas.microsoft.com/office/powerpoint/2018/8/main">
  <p188:cm id="{3110C32E-7C13-D348-9102-58FFDEE15795}" authorId="{AF16FA8A-D8DD-408F-FE95-A033B3E8DD2D}" created="2026-04-19T06:33:39.142">
    <pc:sldMkLst xmlns:pc="http://schemas.microsoft.com/office/powerpoint/2013/main/command">
      <pc:docMk/>
      <pc:sldMk cId="0" sldId="264"/>
    </pc:sldMkLst>
    <p188:txBody>
      <a:bodyPr/>
      <a:lstStyle/>
      <a:p>
        <a:r>
          <a:rPr lang="en-US"/>
          <a:t>Burnout Sentinel is a practical step toward healthier student planning.
It turns weekly schedules into actionable risk insight — so students can rebalance before overload becomes burnout.
Thank you.
</a:t>
        </a:r>
      </a:p>
    </p188:txBody>
  </p188:cm>
  <p188:cm id="{4A3CCACA-1D3B-5A44-9413-08D53D7317DF}" authorId="{AF16FA8A-D8DD-408F-FE95-A033B3E8DD2D}" created="2026-04-19T06:42:15.591">
    <pc:sldMkLst xmlns:pc="http://schemas.microsoft.com/office/powerpoint/2013/main/command">
      <pc:docMk/>
      <pc:sldMk cId="0" sldId="264"/>
    </pc:sldMkLst>
    <p188:txBody>
      <a:bodyPr/>
      <a:lstStyle/>
      <a:p>
        <a:r>
          <a:rPr lang="en-US"/>
          <a:t>One last point before we close.
Burnout Sentinel is not a diagnostic tool. It does not replace counseling or medical care. It is a planning support tool — one that is transparent about its math, honest about its limits, and designed to empower students, not label them.
It turns weekly schedules into actionable risk insight, so students can rebalance before overload becomes burnout.
Thank you.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4084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00_0.xm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microsoft.com/office/2018/10/relationships/comments" Target="../comments/modernComment_101_0.xm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microsoft.com/office/2018/10/relationships/comments" Target="../comments/modernComment_102_0.xml"/><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microsoft.com/office/2018/10/relationships/comments" Target="../comments/modernComment_103_0.xml"/><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microsoft.com/office/2018/10/relationships/comments" Target="../comments/modernComment_104_0.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microsoft.com/office/2018/10/relationships/comments" Target="../comments/modernComment_105_0.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microsoft.com/office/2018/10/relationships/comments" Target="../comments/modernComment_106_0.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microsoft.com/office/2018/10/relationships/comments" Target="../comments/modernComment_107_0.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microsoft.com/office/2018/10/relationships/comments" Target="../comments/modernComment_108_0.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B4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9488"/>
          </a:solidFill>
          <a:ln w="12700">
            <a:solidFill>
              <a:srgbClr val="0D9488"/>
            </a:solidFill>
            <a:prstDash val="solid"/>
          </a:ln>
        </p:spPr>
        <p:txBody>
          <a:bodyPr/>
          <a:lstStyle/>
          <a:p>
            <a:endParaRPr lang="en-US"/>
          </a:p>
        </p:txBody>
      </p:sp>
      <p:sp>
        <p:nvSpPr>
          <p:cNvPr id="3" name="Shape 1"/>
          <p:cNvSpPr/>
          <p:nvPr/>
        </p:nvSpPr>
        <p:spPr>
          <a:xfrm>
            <a:off x="109728" y="3246120"/>
            <a:ext cx="9034272" cy="54864"/>
          </a:xfrm>
          <a:prstGeom prst="rect">
            <a:avLst/>
          </a:prstGeom>
          <a:solidFill>
            <a:srgbClr val="0D9488"/>
          </a:solidFill>
          <a:ln w="12700">
            <a:solidFill>
              <a:srgbClr val="0D9488"/>
            </a:solidFill>
            <a:prstDash val="solid"/>
          </a:ln>
        </p:spPr>
        <p:txBody>
          <a:bodyPr/>
          <a:lstStyle/>
          <a:p>
            <a:endParaRPr lang="en-US"/>
          </a:p>
        </p:txBody>
      </p:sp>
      <p:pic>
        <p:nvPicPr>
          <p:cNvPr id="4" name="Image 0" descr="preencoded.png"/>
          <p:cNvPicPr>
            <a:picLocks noChangeAspect="1"/>
          </p:cNvPicPr>
          <p:nvPr/>
        </p:nvPicPr>
        <p:blipFill>
          <a:blip r:embed="rId4"/>
          <a:stretch>
            <a:fillRect/>
          </a:stretch>
        </p:blipFill>
        <p:spPr>
          <a:xfrm>
            <a:off x="457200" y="502920"/>
            <a:ext cx="822960" cy="822960"/>
          </a:xfrm>
          <a:prstGeom prst="rect">
            <a:avLst/>
          </a:prstGeom>
        </p:spPr>
      </p:pic>
      <p:sp>
        <p:nvSpPr>
          <p:cNvPr id="5" name="Text 2"/>
          <p:cNvSpPr/>
          <p:nvPr/>
        </p:nvSpPr>
        <p:spPr>
          <a:xfrm>
            <a:off x="320040" y="1097280"/>
            <a:ext cx="5943600" cy="100584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Burnout Sentinel</a:t>
            </a:r>
            <a:endParaRPr lang="en-US" sz="4800" dirty="0"/>
          </a:p>
        </p:txBody>
      </p:sp>
      <p:sp>
        <p:nvSpPr>
          <p:cNvPr id="6" name="Text 3"/>
          <p:cNvSpPr/>
          <p:nvPr/>
        </p:nvSpPr>
        <p:spPr>
          <a:xfrm>
            <a:off x="320040" y="2194560"/>
            <a:ext cx="6400800" cy="822960"/>
          </a:xfrm>
          <a:prstGeom prst="rect">
            <a:avLst/>
          </a:prstGeom>
          <a:noFill/>
          <a:ln/>
        </p:spPr>
        <p:txBody>
          <a:bodyPr wrap="square" lIns="0" tIns="0" rIns="0" bIns="0" rtlCol="0" anchor="ctr"/>
          <a:lstStyle/>
          <a:p>
            <a:pPr marL="0" indent="0">
              <a:buNone/>
            </a:pPr>
            <a:r>
              <a:rPr lang="en-US" sz="1600" dirty="0">
                <a:solidFill>
                  <a:srgbClr val="A0C4C1"/>
                </a:solidFill>
                <a:latin typeface="Calibri" pitchFamily="34" charset="0"/>
                <a:ea typeface="Calibri" pitchFamily="34" charset="-122"/>
                <a:cs typeface="Calibri" pitchFamily="34" charset="-120"/>
              </a:rPr>
              <a:t>An Early Warning System for Student Burnout</a:t>
            </a:r>
            <a:endParaRPr lang="en-US" sz="1600" dirty="0"/>
          </a:p>
          <a:p>
            <a:pPr marL="0" indent="0">
              <a:buNone/>
            </a:pPr>
            <a:r>
              <a:rPr lang="en-US" sz="1600" dirty="0">
                <a:solidFill>
                  <a:srgbClr val="A0C4C1"/>
                </a:solidFill>
                <a:latin typeface="Calibri" pitchFamily="34" charset="0"/>
                <a:ea typeface="Calibri" pitchFamily="34" charset="-122"/>
                <a:cs typeface="Calibri" pitchFamily="34" charset="-120"/>
              </a:rPr>
              <a:t>Using Workload and Recovery Indicators</a:t>
            </a:r>
            <a:endParaRPr lang="en-US" sz="1600" dirty="0"/>
          </a:p>
        </p:txBody>
      </p:sp>
      <p:sp>
        <p:nvSpPr>
          <p:cNvPr id="7" name="Shape 4"/>
          <p:cNvSpPr/>
          <p:nvPr/>
        </p:nvSpPr>
        <p:spPr>
          <a:xfrm>
            <a:off x="320040" y="3383280"/>
            <a:ext cx="1920240" cy="347472"/>
          </a:xfrm>
          <a:prstGeom prst="roundRect">
            <a:avLst>
              <a:gd name="adj" fmla="val 26316"/>
            </a:avLst>
          </a:prstGeom>
          <a:solidFill>
            <a:srgbClr val="0D9488">
              <a:alpha val="70000"/>
            </a:srgbClr>
          </a:solidFill>
          <a:ln w="12700">
            <a:solidFill>
              <a:srgbClr val="14B8A6"/>
            </a:solidFill>
            <a:prstDash val="solid"/>
          </a:ln>
        </p:spPr>
        <p:txBody>
          <a:bodyPr/>
          <a:lstStyle/>
          <a:p>
            <a:endParaRPr lang="en-US"/>
          </a:p>
        </p:txBody>
      </p:sp>
      <p:sp>
        <p:nvSpPr>
          <p:cNvPr id="8" name="Text 5"/>
          <p:cNvSpPr/>
          <p:nvPr/>
        </p:nvSpPr>
        <p:spPr>
          <a:xfrm>
            <a:off x="320040" y="3383280"/>
            <a:ext cx="1920240" cy="347472"/>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FastAPI</a:t>
            </a:r>
            <a:endParaRPr lang="en-US" sz="1000" dirty="0"/>
          </a:p>
        </p:txBody>
      </p:sp>
      <p:sp>
        <p:nvSpPr>
          <p:cNvPr id="9" name="Shape 6"/>
          <p:cNvSpPr/>
          <p:nvPr/>
        </p:nvSpPr>
        <p:spPr>
          <a:xfrm>
            <a:off x="2468880" y="3383280"/>
            <a:ext cx="1920240" cy="347472"/>
          </a:xfrm>
          <a:prstGeom prst="roundRect">
            <a:avLst>
              <a:gd name="adj" fmla="val 26316"/>
            </a:avLst>
          </a:prstGeom>
          <a:solidFill>
            <a:srgbClr val="0D9488">
              <a:alpha val="70000"/>
            </a:srgbClr>
          </a:solidFill>
          <a:ln w="12700">
            <a:solidFill>
              <a:srgbClr val="14B8A6"/>
            </a:solidFill>
            <a:prstDash val="solid"/>
          </a:ln>
        </p:spPr>
        <p:txBody>
          <a:bodyPr/>
          <a:lstStyle/>
          <a:p>
            <a:endParaRPr lang="en-US"/>
          </a:p>
        </p:txBody>
      </p:sp>
      <p:sp>
        <p:nvSpPr>
          <p:cNvPr id="10" name="Text 7"/>
          <p:cNvSpPr/>
          <p:nvPr/>
        </p:nvSpPr>
        <p:spPr>
          <a:xfrm>
            <a:off x="2468880" y="3383280"/>
            <a:ext cx="1920240" cy="347472"/>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Next.js + TypeScript</a:t>
            </a:r>
            <a:endParaRPr lang="en-US" sz="1000" dirty="0"/>
          </a:p>
        </p:txBody>
      </p:sp>
      <p:sp>
        <p:nvSpPr>
          <p:cNvPr id="11" name="Shape 8"/>
          <p:cNvSpPr/>
          <p:nvPr/>
        </p:nvSpPr>
        <p:spPr>
          <a:xfrm>
            <a:off x="4617720" y="3383280"/>
            <a:ext cx="1920240" cy="347472"/>
          </a:xfrm>
          <a:prstGeom prst="roundRect">
            <a:avLst>
              <a:gd name="adj" fmla="val 26316"/>
            </a:avLst>
          </a:prstGeom>
          <a:solidFill>
            <a:srgbClr val="0D9488">
              <a:alpha val="70000"/>
            </a:srgbClr>
          </a:solidFill>
          <a:ln w="12700">
            <a:solidFill>
              <a:srgbClr val="14B8A6"/>
            </a:solidFill>
            <a:prstDash val="solid"/>
          </a:ln>
        </p:spPr>
        <p:txBody>
          <a:bodyPr/>
          <a:lstStyle/>
          <a:p>
            <a:endParaRPr lang="en-US"/>
          </a:p>
        </p:txBody>
      </p:sp>
      <p:sp>
        <p:nvSpPr>
          <p:cNvPr id="12" name="Text 9"/>
          <p:cNvSpPr/>
          <p:nvPr/>
        </p:nvSpPr>
        <p:spPr>
          <a:xfrm>
            <a:off x="4617720" y="3383280"/>
            <a:ext cx="1920240" cy="347472"/>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Explainable AI</a:t>
            </a:r>
            <a:endParaRPr lang="en-US" sz="1000" dirty="0"/>
          </a:p>
        </p:txBody>
      </p:sp>
      <p:sp>
        <p:nvSpPr>
          <p:cNvPr id="13" name="Shape 10"/>
          <p:cNvSpPr/>
          <p:nvPr/>
        </p:nvSpPr>
        <p:spPr>
          <a:xfrm>
            <a:off x="6766560" y="3383280"/>
            <a:ext cx="1920240" cy="347472"/>
          </a:xfrm>
          <a:prstGeom prst="roundRect">
            <a:avLst>
              <a:gd name="adj" fmla="val 26316"/>
            </a:avLst>
          </a:prstGeom>
          <a:solidFill>
            <a:srgbClr val="0D9488">
              <a:alpha val="70000"/>
            </a:srgbClr>
          </a:solidFill>
          <a:ln w="12700">
            <a:solidFill>
              <a:srgbClr val="14B8A6"/>
            </a:solidFill>
            <a:prstDash val="solid"/>
          </a:ln>
        </p:spPr>
        <p:txBody>
          <a:bodyPr/>
          <a:lstStyle/>
          <a:p>
            <a:endParaRPr lang="en-US"/>
          </a:p>
        </p:txBody>
      </p:sp>
      <p:sp>
        <p:nvSpPr>
          <p:cNvPr id="14" name="Text 11"/>
          <p:cNvSpPr/>
          <p:nvPr/>
        </p:nvSpPr>
        <p:spPr>
          <a:xfrm>
            <a:off x="6766560" y="3383280"/>
            <a:ext cx="1920240" cy="347472"/>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Student Wellness</a:t>
            </a:r>
            <a:endParaRPr lang="en-US" sz="1000" dirty="0"/>
          </a:p>
        </p:txBody>
      </p:sp>
      <p:sp>
        <p:nvSpPr>
          <p:cNvPr id="15" name="Shape 12"/>
          <p:cNvSpPr/>
          <p:nvPr/>
        </p:nvSpPr>
        <p:spPr>
          <a:xfrm>
            <a:off x="7132320" y="-365760"/>
            <a:ext cx="2560320" cy="2560320"/>
          </a:xfrm>
          <a:prstGeom prst="ellipse">
            <a:avLst/>
          </a:prstGeom>
          <a:solidFill>
            <a:srgbClr val="0D9488">
              <a:alpha val="18000"/>
            </a:srgbClr>
          </a:solidFill>
          <a:ln w="12700">
            <a:solidFill>
              <a:srgbClr val="0D9488">
                <a:alpha val="40000"/>
              </a:srgbClr>
            </a:solidFill>
            <a:prstDash val="solid"/>
          </a:ln>
        </p:spPr>
        <p:txBody>
          <a:bodyPr/>
          <a:lstStyle/>
          <a:p>
            <a:endParaRPr lang="en-US"/>
          </a:p>
        </p:txBody>
      </p:sp>
      <p:sp>
        <p:nvSpPr>
          <p:cNvPr id="16" name="Shape 13"/>
          <p:cNvSpPr/>
          <p:nvPr/>
        </p:nvSpPr>
        <p:spPr>
          <a:xfrm>
            <a:off x="7772400" y="2103120"/>
            <a:ext cx="1828800" cy="1828800"/>
          </a:xfrm>
          <a:prstGeom prst="ellipse">
            <a:avLst/>
          </a:prstGeom>
          <a:solidFill>
            <a:srgbClr val="14B8A6">
              <a:alpha val="12000"/>
            </a:srgbClr>
          </a:solidFill>
          <a:ln w="12700">
            <a:solidFill>
              <a:srgbClr val="14B8A6">
                <a:alpha val="30000"/>
              </a:srgbClr>
            </a:solidFill>
            <a:prstDash val="solid"/>
          </a:ln>
        </p:spPr>
        <p:txBody>
          <a:bodyPr/>
          <a:lstStyle/>
          <a:p>
            <a:endParaRPr lang="en-US"/>
          </a:p>
        </p:txBody>
      </p:sp>
      <p:sp>
        <p:nvSpPr>
          <p:cNvPr id="17" name="Text 14"/>
          <p:cNvSpPr/>
          <p:nvPr/>
        </p:nvSpPr>
        <p:spPr>
          <a:xfrm>
            <a:off x="320040" y="4572000"/>
            <a:ext cx="5486400" cy="365760"/>
          </a:xfrm>
          <a:prstGeom prst="rect">
            <a:avLst/>
          </a:prstGeom>
          <a:noFill/>
          <a:ln/>
        </p:spPr>
        <p:txBody>
          <a:bodyPr wrap="square" lIns="0" tIns="0" rIns="0" bIns="0" rtlCol="0" anchor="ctr"/>
          <a:lstStyle/>
          <a:p>
            <a:pPr marL="0" indent="0">
              <a:buNone/>
            </a:pPr>
            <a:r>
              <a:rPr lang="en-US" sz="1100" dirty="0">
                <a:solidFill>
                  <a:srgbClr val="5A8A87"/>
                </a:solidFill>
                <a:latin typeface="Calibri" pitchFamily="34" charset="0"/>
                <a:ea typeface="Calibri" pitchFamily="34" charset="-122"/>
                <a:cs typeface="Calibri" pitchFamily="34" charset="-120"/>
              </a:rPr>
              <a:t>Version 0.4.0  ·  April 2026  ·  MVP Prototype</a:t>
            </a:r>
            <a:endParaRPr lang="en-US" sz="1100" dirty="0"/>
          </a:p>
        </p:txBody>
      </p:sp>
    </p:spTree>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9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B4A"/>
          </a:solidFill>
          <a:ln w="12700">
            <a:solidFill>
              <a:srgbClr val="1A2B4A"/>
            </a:solidFill>
            <a:prstDash val="solid"/>
          </a:ln>
        </p:spPr>
        <p:txBody>
          <a:bodyPr/>
          <a:lstStyle/>
          <a:p>
            <a:endParaRPr lang="en-US"/>
          </a:p>
        </p:txBody>
      </p:sp>
      <p:pic>
        <p:nvPicPr>
          <p:cNvPr id="3" name="Image 0" descr="preencoded.png"/>
          <p:cNvPicPr>
            <a:picLocks noChangeAspect="1"/>
          </p:cNvPicPr>
          <p:nvPr/>
        </p:nvPicPr>
        <p:blipFill>
          <a:blip r:embed="rId4"/>
          <a:stretch>
            <a:fillRect/>
          </a:stretch>
        </p:blipFill>
        <p:spPr>
          <a:xfrm>
            <a:off x="320040" y="201168"/>
            <a:ext cx="594360" cy="594360"/>
          </a:xfrm>
          <a:prstGeom prst="rect">
            <a:avLst/>
          </a:prstGeom>
        </p:spPr>
      </p:pic>
      <p:sp>
        <p:nvSpPr>
          <p:cNvPr id="4" name="Text 1"/>
          <p:cNvSpPr/>
          <p:nvPr/>
        </p:nvSpPr>
        <p:spPr>
          <a:xfrm>
            <a:off x="1051560" y="182880"/>
            <a:ext cx="731520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The Problem</a:t>
            </a:r>
            <a:endParaRPr lang="en-US" sz="2800" dirty="0"/>
          </a:p>
        </p:txBody>
      </p:sp>
      <p:sp>
        <p:nvSpPr>
          <p:cNvPr id="5" name="Shape 2"/>
          <p:cNvSpPr/>
          <p:nvPr/>
        </p:nvSpPr>
        <p:spPr>
          <a:xfrm>
            <a:off x="320040" y="1234440"/>
            <a:ext cx="2743200" cy="192024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txBody>
          <a:bodyPr/>
          <a:lstStyle/>
          <a:p>
            <a:endParaRPr lang="en-US"/>
          </a:p>
        </p:txBody>
      </p:sp>
      <p:sp>
        <p:nvSpPr>
          <p:cNvPr id="6" name="Shape 3"/>
          <p:cNvSpPr/>
          <p:nvPr/>
        </p:nvSpPr>
        <p:spPr>
          <a:xfrm>
            <a:off x="320040" y="1234440"/>
            <a:ext cx="2743200" cy="64008"/>
          </a:xfrm>
          <a:prstGeom prst="rect">
            <a:avLst/>
          </a:prstGeom>
          <a:solidFill>
            <a:srgbClr val="EF4444"/>
          </a:solidFill>
          <a:ln w="12700">
            <a:solidFill>
              <a:srgbClr val="EF4444"/>
            </a:solidFill>
            <a:prstDash val="solid"/>
          </a:ln>
        </p:spPr>
        <p:txBody>
          <a:bodyPr/>
          <a:lstStyle/>
          <a:p>
            <a:endParaRPr lang="en-US"/>
          </a:p>
        </p:txBody>
      </p:sp>
      <p:sp>
        <p:nvSpPr>
          <p:cNvPr id="7" name="Text 4"/>
          <p:cNvSpPr/>
          <p:nvPr/>
        </p:nvSpPr>
        <p:spPr>
          <a:xfrm>
            <a:off x="320040" y="1371600"/>
            <a:ext cx="2743200" cy="685800"/>
          </a:xfrm>
          <a:prstGeom prst="rect">
            <a:avLst/>
          </a:prstGeom>
          <a:noFill/>
          <a:ln/>
        </p:spPr>
        <p:txBody>
          <a:bodyPr wrap="square" lIns="0" tIns="0" rIns="0" bIns="0" rtlCol="0" anchor="ctr"/>
          <a:lstStyle/>
          <a:p>
            <a:pPr marL="0" indent="0" algn="ctr">
              <a:buNone/>
            </a:pPr>
            <a:r>
              <a:rPr lang="en-US" sz="3600" b="1" dirty="0">
                <a:solidFill>
                  <a:srgbClr val="EF4444"/>
                </a:solidFill>
                <a:latin typeface="Calibri" pitchFamily="34" charset="0"/>
                <a:ea typeface="Calibri" pitchFamily="34" charset="-122"/>
                <a:cs typeface="Calibri" pitchFamily="34" charset="-120"/>
              </a:rPr>
              <a:t>76%</a:t>
            </a:r>
            <a:endParaRPr lang="en-US" sz="3600" dirty="0"/>
          </a:p>
        </p:txBody>
      </p:sp>
      <p:sp>
        <p:nvSpPr>
          <p:cNvPr id="8" name="Text 5"/>
          <p:cNvSpPr/>
          <p:nvPr/>
        </p:nvSpPr>
        <p:spPr>
          <a:xfrm>
            <a:off x="457200" y="2103120"/>
            <a:ext cx="2468880" cy="777240"/>
          </a:xfrm>
          <a:prstGeom prst="rect">
            <a:avLst/>
          </a:prstGeom>
          <a:noFill/>
          <a:ln/>
        </p:spPr>
        <p:txBody>
          <a:bodyPr wrap="square" lIns="0" tIns="0" rIns="0" bIns="0" rtlCol="0" anchor="ctr"/>
          <a:lstStyle/>
          <a:p>
            <a:pPr marL="0" indent="0" algn="ctr">
              <a:buNone/>
            </a:pPr>
            <a:r>
              <a:rPr lang="en-US" sz="1300" dirty="0">
                <a:solidFill>
                  <a:srgbClr val="64748B"/>
                </a:solidFill>
                <a:latin typeface="Calibri" pitchFamily="34" charset="0"/>
                <a:ea typeface="Calibri" pitchFamily="34" charset="-122"/>
                <a:cs typeface="Calibri" pitchFamily="34" charset="-120"/>
              </a:rPr>
              <a:t>of students report moderate</a:t>
            </a:r>
            <a:endParaRPr lang="en-US" sz="1300" dirty="0"/>
          </a:p>
          <a:p>
            <a:pPr marL="0" indent="0" algn="ctr">
              <a:buNone/>
            </a:pPr>
            <a:r>
              <a:rPr lang="en-US" sz="1300" dirty="0">
                <a:solidFill>
                  <a:srgbClr val="64748B"/>
                </a:solidFill>
                <a:latin typeface="Calibri" pitchFamily="34" charset="0"/>
                <a:ea typeface="Calibri" pitchFamily="34" charset="-122"/>
                <a:cs typeface="Calibri" pitchFamily="34" charset="-120"/>
              </a:rPr>
              <a:t>to high stress levels weekly</a:t>
            </a:r>
            <a:endParaRPr lang="en-US" sz="1300" dirty="0"/>
          </a:p>
        </p:txBody>
      </p:sp>
      <p:sp>
        <p:nvSpPr>
          <p:cNvPr id="9" name="Shape 6"/>
          <p:cNvSpPr/>
          <p:nvPr/>
        </p:nvSpPr>
        <p:spPr>
          <a:xfrm>
            <a:off x="3246120" y="1234440"/>
            <a:ext cx="2743200" cy="192024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txBody>
          <a:bodyPr/>
          <a:lstStyle/>
          <a:p>
            <a:endParaRPr lang="en-US"/>
          </a:p>
        </p:txBody>
      </p:sp>
      <p:sp>
        <p:nvSpPr>
          <p:cNvPr id="10" name="Shape 7"/>
          <p:cNvSpPr/>
          <p:nvPr/>
        </p:nvSpPr>
        <p:spPr>
          <a:xfrm>
            <a:off x="3246120" y="1234440"/>
            <a:ext cx="2743200" cy="64008"/>
          </a:xfrm>
          <a:prstGeom prst="rect">
            <a:avLst/>
          </a:prstGeom>
          <a:solidFill>
            <a:srgbClr val="F59E0B"/>
          </a:solidFill>
          <a:ln w="12700">
            <a:solidFill>
              <a:srgbClr val="F59E0B"/>
            </a:solidFill>
            <a:prstDash val="solid"/>
          </a:ln>
        </p:spPr>
        <p:txBody>
          <a:bodyPr/>
          <a:lstStyle/>
          <a:p>
            <a:endParaRPr lang="en-US"/>
          </a:p>
        </p:txBody>
      </p:sp>
      <p:sp>
        <p:nvSpPr>
          <p:cNvPr id="11" name="Text 8"/>
          <p:cNvSpPr/>
          <p:nvPr/>
        </p:nvSpPr>
        <p:spPr>
          <a:xfrm>
            <a:off x="3246120" y="1371600"/>
            <a:ext cx="2743200" cy="685800"/>
          </a:xfrm>
          <a:prstGeom prst="rect">
            <a:avLst/>
          </a:prstGeom>
          <a:noFill/>
          <a:ln/>
        </p:spPr>
        <p:txBody>
          <a:bodyPr wrap="square" lIns="0" tIns="0" rIns="0" bIns="0" rtlCol="0" anchor="ctr"/>
          <a:lstStyle/>
          <a:p>
            <a:pPr marL="0" indent="0" algn="ctr">
              <a:buNone/>
            </a:pPr>
            <a:r>
              <a:rPr lang="en-US" sz="3600" b="1" dirty="0">
                <a:solidFill>
                  <a:srgbClr val="F59E0B"/>
                </a:solidFill>
                <a:latin typeface="Calibri" pitchFamily="34" charset="0"/>
                <a:ea typeface="Calibri" pitchFamily="34" charset="-122"/>
                <a:cs typeface="Calibri" pitchFamily="34" charset="-120"/>
              </a:rPr>
              <a:t>3-in-4</a:t>
            </a:r>
            <a:endParaRPr lang="en-US" sz="3600" dirty="0"/>
          </a:p>
        </p:txBody>
      </p:sp>
      <p:sp>
        <p:nvSpPr>
          <p:cNvPr id="12" name="Text 9"/>
          <p:cNvSpPr/>
          <p:nvPr/>
        </p:nvSpPr>
        <p:spPr>
          <a:xfrm>
            <a:off x="3383280" y="2103120"/>
            <a:ext cx="2468880" cy="777240"/>
          </a:xfrm>
          <a:prstGeom prst="rect">
            <a:avLst/>
          </a:prstGeom>
          <a:noFill/>
          <a:ln/>
        </p:spPr>
        <p:txBody>
          <a:bodyPr wrap="square" lIns="0" tIns="0" rIns="0" bIns="0" rtlCol="0" anchor="ctr"/>
          <a:lstStyle/>
          <a:p>
            <a:pPr marL="0" indent="0" algn="ctr">
              <a:buNone/>
            </a:pPr>
            <a:r>
              <a:rPr lang="en-US" sz="1300" dirty="0">
                <a:solidFill>
                  <a:srgbClr val="64748B"/>
                </a:solidFill>
                <a:latin typeface="Calibri" pitchFamily="34" charset="0"/>
                <a:ea typeface="Calibri" pitchFamily="34" charset="-122"/>
                <a:cs typeface="Calibri" pitchFamily="34" charset="-120"/>
              </a:rPr>
              <a:t>students feel overwhelmed</a:t>
            </a:r>
            <a:endParaRPr lang="en-US" sz="1300" dirty="0"/>
          </a:p>
          <a:p>
            <a:pPr marL="0" indent="0" algn="ctr">
              <a:buNone/>
            </a:pPr>
            <a:r>
              <a:rPr lang="en-US" sz="1300" dirty="0">
                <a:solidFill>
                  <a:srgbClr val="64748B"/>
                </a:solidFill>
                <a:latin typeface="Calibri" pitchFamily="34" charset="0"/>
                <a:ea typeface="Calibri" pitchFamily="34" charset="-122"/>
                <a:cs typeface="Calibri" pitchFamily="34" charset="-120"/>
              </a:rPr>
              <a:t>at some point in the semester</a:t>
            </a:r>
            <a:endParaRPr lang="en-US" sz="1300" dirty="0"/>
          </a:p>
        </p:txBody>
      </p:sp>
      <p:sp>
        <p:nvSpPr>
          <p:cNvPr id="13" name="Shape 10"/>
          <p:cNvSpPr/>
          <p:nvPr/>
        </p:nvSpPr>
        <p:spPr>
          <a:xfrm>
            <a:off x="6172200" y="1234440"/>
            <a:ext cx="2743200" cy="192024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txBody>
          <a:bodyPr/>
          <a:lstStyle/>
          <a:p>
            <a:endParaRPr lang="en-US"/>
          </a:p>
        </p:txBody>
      </p:sp>
      <p:sp>
        <p:nvSpPr>
          <p:cNvPr id="14" name="Shape 11"/>
          <p:cNvSpPr/>
          <p:nvPr/>
        </p:nvSpPr>
        <p:spPr>
          <a:xfrm>
            <a:off x="6172200" y="1234440"/>
            <a:ext cx="2743200" cy="64008"/>
          </a:xfrm>
          <a:prstGeom prst="rect">
            <a:avLst/>
          </a:prstGeom>
          <a:solidFill>
            <a:srgbClr val="64748B"/>
          </a:solidFill>
          <a:ln w="12700">
            <a:solidFill>
              <a:srgbClr val="64748B"/>
            </a:solidFill>
            <a:prstDash val="solid"/>
          </a:ln>
        </p:spPr>
        <p:txBody>
          <a:bodyPr/>
          <a:lstStyle/>
          <a:p>
            <a:endParaRPr lang="en-US"/>
          </a:p>
        </p:txBody>
      </p:sp>
      <p:sp>
        <p:nvSpPr>
          <p:cNvPr id="15" name="Text 12"/>
          <p:cNvSpPr/>
          <p:nvPr/>
        </p:nvSpPr>
        <p:spPr>
          <a:xfrm>
            <a:off x="6172200" y="1371600"/>
            <a:ext cx="2743200" cy="685800"/>
          </a:xfrm>
          <a:prstGeom prst="rect">
            <a:avLst/>
          </a:prstGeom>
          <a:noFill/>
          <a:ln/>
        </p:spPr>
        <p:txBody>
          <a:bodyPr wrap="square" lIns="0" tIns="0" rIns="0" bIns="0" rtlCol="0" anchor="ctr"/>
          <a:lstStyle/>
          <a:p>
            <a:pPr marL="0" indent="0" algn="ctr">
              <a:buNone/>
            </a:pPr>
            <a:r>
              <a:rPr lang="en-US" sz="3600" b="1" dirty="0">
                <a:solidFill>
                  <a:srgbClr val="64748B"/>
                </a:solidFill>
                <a:latin typeface="Calibri" pitchFamily="34" charset="0"/>
                <a:ea typeface="Calibri" pitchFamily="34" charset="-122"/>
                <a:cs typeface="Calibri" pitchFamily="34" charset="-120"/>
              </a:rPr>
              <a:t>Late</a:t>
            </a:r>
            <a:endParaRPr lang="en-US" sz="3600" dirty="0"/>
          </a:p>
        </p:txBody>
      </p:sp>
      <p:sp>
        <p:nvSpPr>
          <p:cNvPr id="16" name="Text 13"/>
          <p:cNvSpPr/>
          <p:nvPr/>
        </p:nvSpPr>
        <p:spPr>
          <a:xfrm>
            <a:off x="6309360" y="2103120"/>
            <a:ext cx="2468880" cy="777240"/>
          </a:xfrm>
          <a:prstGeom prst="rect">
            <a:avLst/>
          </a:prstGeom>
          <a:noFill/>
          <a:ln/>
        </p:spPr>
        <p:txBody>
          <a:bodyPr wrap="square" lIns="0" tIns="0" rIns="0" bIns="0" rtlCol="0" anchor="ctr"/>
          <a:lstStyle/>
          <a:p>
            <a:pPr marL="0" indent="0" algn="ctr">
              <a:buNone/>
            </a:pPr>
            <a:r>
              <a:rPr lang="en-US" sz="1300" dirty="0">
                <a:solidFill>
                  <a:srgbClr val="64748B"/>
                </a:solidFill>
                <a:latin typeface="Calibri" pitchFamily="34" charset="0"/>
                <a:ea typeface="Calibri" pitchFamily="34" charset="-122"/>
                <a:cs typeface="Calibri" pitchFamily="34" charset="-120"/>
              </a:rPr>
              <a:t>Most seek help only after</a:t>
            </a:r>
            <a:endParaRPr lang="en-US" sz="1300" dirty="0"/>
          </a:p>
          <a:p>
            <a:pPr marL="0" indent="0" algn="ctr">
              <a:buNone/>
            </a:pPr>
            <a:r>
              <a:rPr lang="en-US" sz="1300" dirty="0">
                <a:solidFill>
                  <a:srgbClr val="64748B"/>
                </a:solidFill>
                <a:latin typeface="Calibri" pitchFamily="34" charset="0"/>
                <a:ea typeface="Calibri" pitchFamily="34" charset="-122"/>
                <a:cs typeface="Calibri" pitchFamily="34" charset="-120"/>
              </a:rPr>
              <a:t>burnout has already set in</a:t>
            </a:r>
            <a:endParaRPr lang="en-US" sz="1300" dirty="0"/>
          </a:p>
        </p:txBody>
      </p:sp>
      <p:sp>
        <p:nvSpPr>
          <p:cNvPr id="17" name="Shape 14"/>
          <p:cNvSpPr/>
          <p:nvPr/>
        </p:nvSpPr>
        <p:spPr>
          <a:xfrm>
            <a:off x="320040" y="3337560"/>
            <a:ext cx="8503920" cy="1417320"/>
          </a:xfrm>
          <a:prstGeom prst="rect">
            <a:avLst/>
          </a:prstGeom>
          <a:solidFill>
            <a:srgbClr val="FFFFFF"/>
          </a:solidFill>
          <a:ln w="12700">
            <a:solidFill>
              <a:srgbClr val="E2E8F0"/>
            </a:solidFill>
            <a:prstDash val="solid"/>
          </a:ln>
        </p:spPr>
        <p:txBody>
          <a:bodyPr/>
          <a:lstStyle/>
          <a:p>
            <a:endParaRPr lang="en-US"/>
          </a:p>
        </p:txBody>
      </p:sp>
      <p:sp>
        <p:nvSpPr>
          <p:cNvPr id="18" name="Shape 15"/>
          <p:cNvSpPr/>
          <p:nvPr/>
        </p:nvSpPr>
        <p:spPr>
          <a:xfrm>
            <a:off x="320040" y="3337560"/>
            <a:ext cx="73152" cy="1417320"/>
          </a:xfrm>
          <a:prstGeom prst="rect">
            <a:avLst/>
          </a:prstGeom>
          <a:solidFill>
            <a:srgbClr val="0D9488"/>
          </a:solidFill>
          <a:ln w="12700">
            <a:solidFill>
              <a:srgbClr val="0D9488"/>
            </a:solidFill>
            <a:prstDash val="solid"/>
          </a:ln>
        </p:spPr>
        <p:txBody>
          <a:bodyPr/>
          <a:lstStyle/>
          <a:p>
            <a:endParaRPr lang="en-US"/>
          </a:p>
        </p:txBody>
      </p:sp>
      <p:sp>
        <p:nvSpPr>
          <p:cNvPr id="19" name="Text 16"/>
          <p:cNvSpPr/>
          <p:nvPr/>
        </p:nvSpPr>
        <p:spPr>
          <a:xfrm>
            <a:off x="548640" y="3337560"/>
            <a:ext cx="8229600" cy="1417320"/>
          </a:xfrm>
          <a:prstGeom prst="rect">
            <a:avLst/>
          </a:prstGeom>
          <a:noFill/>
          <a:ln/>
        </p:spPr>
        <p:txBody>
          <a:bodyPr wrap="square" lIns="0" tIns="0" rIns="0" bIns="0" rtlCol="0" anchor="ctr"/>
          <a:lstStyle/>
          <a:p>
            <a:pPr marL="0" indent="0">
              <a:buNone/>
            </a:pPr>
            <a:r>
              <a:rPr lang="en-US" sz="1400" b="1" dirty="0">
                <a:solidFill>
                  <a:srgbClr val="1A2B4A"/>
                </a:solidFill>
                <a:latin typeface="Calibri" pitchFamily="34" charset="0"/>
                <a:ea typeface="Calibri" pitchFamily="34" charset="-122"/>
                <a:cs typeface="Calibri" pitchFamily="34" charset="-120"/>
              </a:rPr>
              <a:t>Traditional planners track tasks — but not health. </a:t>
            </a:r>
            <a:r>
              <a:rPr lang="en-US" sz="1400" dirty="0">
                <a:solidFill>
                  <a:srgbClr val="64748B"/>
                </a:solidFill>
                <a:latin typeface="Calibri" pitchFamily="34" charset="0"/>
                <a:ea typeface="Calibri" pitchFamily="34" charset="-122"/>
                <a:cs typeface="Calibri" pitchFamily="34" charset="-120"/>
              </a:rPr>
              <a:t>Students managing classes, exams, labs, clinicals, and personal obligations have no way to know when their schedule is becoming </a:t>
            </a:r>
            <a:r>
              <a:rPr lang="en-US" sz="1400" b="1" dirty="0">
                <a:solidFill>
                  <a:srgbClr val="EF4444"/>
                </a:solidFill>
                <a:latin typeface="Calibri" pitchFamily="34" charset="0"/>
                <a:ea typeface="Calibri" pitchFamily="34" charset="-122"/>
                <a:cs typeface="Calibri" pitchFamily="34" charset="-120"/>
              </a:rPr>
              <a:t>dangerous</a:t>
            </a:r>
            <a:r>
              <a:rPr lang="en-US" sz="1400" dirty="0">
                <a:solidFill>
                  <a:srgbClr val="64748B"/>
                </a:solidFill>
                <a:latin typeface="Calibri" pitchFamily="34" charset="0"/>
                <a:ea typeface="Calibri" pitchFamily="34" charset="-122"/>
                <a:cs typeface="Calibri" pitchFamily="34" charset="-120"/>
              </a:rPr>
              <a:t>.</a:t>
            </a:r>
            <a:endParaRPr lang="en-US" sz="1400" dirty="0"/>
          </a:p>
          <a:p>
            <a:pPr marL="0" indent="0">
              <a:buNone/>
            </a:pPr>
            <a:r>
              <a:rPr lang="en-US" sz="1400" dirty="0">
                <a:solidFill>
                  <a:srgbClr val="64748B"/>
                </a:solidFill>
                <a:latin typeface="Calibri" pitchFamily="34" charset="0"/>
                <a:ea typeface="Calibri" pitchFamily="34" charset="-122"/>
                <a:cs typeface="Calibri" pitchFamily="34" charset="-120"/>
              </a:rPr>
              <a:t>By the time burnout symptoms appear, sleep, performance, and well-being are already compromised.</a:t>
            </a:r>
            <a:endParaRPr lang="en-US" sz="1400" dirty="0"/>
          </a:p>
        </p:txBody>
      </p:sp>
    </p:spTree>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2B4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9488"/>
          </a:solidFill>
          <a:ln w="12700">
            <a:solidFill>
              <a:srgbClr val="0D9488"/>
            </a:solidFill>
            <a:prstDash val="solid"/>
          </a:ln>
        </p:spPr>
        <p:txBody>
          <a:bodyPr/>
          <a:lstStyle/>
          <a:p>
            <a:endParaRPr lang="en-US"/>
          </a:p>
        </p:txBody>
      </p:sp>
      <p:pic>
        <p:nvPicPr>
          <p:cNvPr id="3" name="Image 0" descr="preencoded.png"/>
          <p:cNvPicPr>
            <a:picLocks noChangeAspect="1"/>
          </p:cNvPicPr>
          <p:nvPr/>
        </p:nvPicPr>
        <p:blipFill>
          <a:blip r:embed="rId4"/>
          <a:stretch>
            <a:fillRect/>
          </a:stretch>
        </p:blipFill>
        <p:spPr>
          <a:xfrm>
            <a:off x="320040" y="201168"/>
            <a:ext cx="594360" cy="594360"/>
          </a:xfrm>
          <a:prstGeom prst="rect">
            <a:avLst/>
          </a:prstGeom>
        </p:spPr>
      </p:pic>
      <p:sp>
        <p:nvSpPr>
          <p:cNvPr id="4" name="Text 1"/>
          <p:cNvSpPr/>
          <p:nvPr/>
        </p:nvSpPr>
        <p:spPr>
          <a:xfrm>
            <a:off x="1051560" y="182880"/>
            <a:ext cx="777240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The Solution: Burnout Sentinel</a:t>
            </a:r>
            <a:endParaRPr lang="en-US" sz="2800" dirty="0"/>
          </a:p>
        </p:txBody>
      </p:sp>
      <p:sp>
        <p:nvSpPr>
          <p:cNvPr id="5" name="Shape 2"/>
          <p:cNvSpPr/>
          <p:nvPr/>
        </p:nvSpPr>
        <p:spPr>
          <a:xfrm>
            <a:off x="320040" y="1188720"/>
            <a:ext cx="3931920" cy="3474720"/>
          </a:xfrm>
          <a:prstGeom prst="rect">
            <a:avLst/>
          </a:prstGeom>
          <a:solidFill>
            <a:srgbClr val="1E3A5F"/>
          </a:solidFill>
          <a:ln w="12700">
            <a:solidFill>
              <a:srgbClr val="0D9488"/>
            </a:solidFill>
            <a:prstDash val="solid"/>
          </a:ln>
        </p:spPr>
        <p:txBody>
          <a:bodyPr/>
          <a:lstStyle/>
          <a:p>
            <a:endParaRPr lang="en-US"/>
          </a:p>
        </p:txBody>
      </p:sp>
      <p:sp>
        <p:nvSpPr>
          <p:cNvPr id="6" name="Text 3"/>
          <p:cNvSpPr/>
          <p:nvPr/>
        </p:nvSpPr>
        <p:spPr>
          <a:xfrm>
            <a:off x="457200" y="1280160"/>
            <a:ext cx="3657600" cy="411480"/>
          </a:xfrm>
          <a:prstGeom prst="rect">
            <a:avLst/>
          </a:prstGeom>
          <a:noFill/>
          <a:ln/>
        </p:spPr>
        <p:txBody>
          <a:bodyPr wrap="square" lIns="0" tIns="0" rIns="0" bIns="0" rtlCol="0" anchor="ctr"/>
          <a:lstStyle/>
          <a:p>
            <a:pPr marL="0" indent="0">
              <a:buNone/>
            </a:pPr>
            <a:r>
              <a:rPr lang="en-US" sz="1500" b="1" dirty="0">
                <a:solidFill>
                  <a:srgbClr val="14B8A6"/>
                </a:solidFill>
                <a:latin typeface="Calibri" pitchFamily="34" charset="0"/>
                <a:ea typeface="Calibri" pitchFamily="34" charset="-122"/>
                <a:cs typeface="Calibri" pitchFamily="34" charset="-120"/>
              </a:rPr>
              <a:t>📥  Weekly Inputs</a:t>
            </a:r>
            <a:endParaRPr lang="en-US" sz="1500" dirty="0"/>
          </a:p>
        </p:txBody>
      </p:sp>
      <p:sp>
        <p:nvSpPr>
          <p:cNvPr id="7" name="Shape 4"/>
          <p:cNvSpPr/>
          <p:nvPr/>
        </p:nvSpPr>
        <p:spPr>
          <a:xfrm>
            <a:off x="457200" y="1828800"/>
            <a:ext cx="3566160" cy="731520"/>
          </a:xfrm>
          <a:prstGeom prst="rect">
            <a:avLst/>
          </a:prstGeom>
          <a:solidFill>
            <a:srgbClr val="24466E"/>
          </a:solidFill>
          <a:ln w="12700">
            <a:solidFill>
              <a:srgbClr val="2D5A7E"/>
            </a:solidFill>
            <a:prstDash val="solid"/>
          </a:ln>
        </p:spPr>
        <p:txBody>
          <a:bodyPr/>
          <a:lstStyle/>
          <a:p>
            <a:endParaRPr lang="en-US"/>
          </a:p>
        </p:txBody>
      </p:sp>
      <p:sp>
        <p:nvSpPr>
          <p:cNvPr id="8" name="Text 5"/>
          <p:cNvSpPr/>
          <p:nvPr/>
        </p:nvSpPr>
        <p:spPr>
          <a:xfrm>
            <a:off x="594360" y="1874520"/>
            <a:ext cx="329184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Workload</a:t>
            </a:r>
            <a:endParaRPr lang="en-US" sz="1300" dirty="0"/>
          </a:p>
        </p:txBody>
      </p:sp>
      <p:sp>
        <p:nvSpPr>
          <p:cNvPr id="9" name="Text 6"/>
          <p:cNvSpPr/>
          <p:nvPr/>
        </p:nvSpPr>
        <p:spPr>
          <a:xfrm>
            <a:off x="594360" y="2148840"/>
            <a:ext cx="3291840" cy="274320"/>
          </a:xfrm>
          <a:prstGeom prst="rect">
            <a:avLst/>
          </a:prstGeom>
          <a:noFill/>
          <a:ln/>
        </p:spPr>
        <p:txBody>
          <a:bodyPr wrap="square" lIns="0" tIns="0" rIns="0" bIns="0" rtlCol="0" anchor="ctr"/>
          <a:lstStyle/>
          <a:p>
            <a:pPr marL="0" indent="0">
              <a:buNone/>
            </a:pPr>
            <a:r>
              <a:rPr lang="en-US" sz="1100" dirty="0">
                <a:solidFill>
                  <a:srgbClr val="A0C4C1"/>
                </a:solidFill>
                <a:latin typeface="Calibri" pitchFamily="34" charset="0"/>
                <a:ea typeface="Calibri" pitchFamily="34" charset="-122"/>
                <a:cs typeface="Calibri" pitchFamily="34" charset="-120"/>
              </a:rPr>
              <a:t>Tasks, study hours, exam load, clinical hours</a:t>
            </a:r>
            <a:endParaRPr lang="en-US" sz="1100" dirty="0"/>
          </a:p>
        </p:txBody>
      </p:sp>
      <p:sp>
        <p:nvSpPr>
          <p:cNvPr id="10" name="Shape 7"/>
          <p:cNvSpPr/>
          <p:nvPr/>
        </p:nvSpPr>
        <p:spPr>
          <a:xfrm>
            <a:off x="457200" y="2697480"/>
            <a:ext cx="3566160" cy="731520"/>
          </a:xfrm>
          <a:prstGeom prst="rect">
            <a:avLst/>
          </a:prstGeom>
          <a:solidFill>
            <a:srgbClr val="24466E"/>
          </a:solidFill>
          <a:ln w="12700">
            <a:solidFill>
              <a:srgbClr val="2D5A7E"/>
            </a:solidFill>
            <a:prstDash val="solid"/>
          </a:ln>
        </p:spPr>
        <p:txBody>
          <a:bodyPr/>
          <a:lstStyle/>
          <a:p>
            <a:endParaRPr lang="en-US"/>
          </a:p>
        </p:txBody>
      </p:sp>
      <p:sp>
        <p:nvSpPr>
          <p:cNvPr id="11" name="Text 8"/>
          <p:cNvSpPr/>
          <p:nvPr/>
        </p:nvSpPr>
        <p:spPr>
          <a:xfrm>
            <a:off x="594360" y="2743200"/>
            <a:ext cx="329184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Recovery</a:t>
            </a:r>
            <a:endParaRPr lang="en-US" sz="1300" dirty="0"/>
          </a:p>
        </p:txBody>
      </p:sp>
      <p:sp>
        <p:nvSpPr>
          <p:cNvPr id="12" name="Text 9"/>
          <p:cNvSpPr/>
          <p:nvPr/>
        </p:nvSpPr>
        <p:spPr>
          <a:xfrm>
            <a:off x="594360" y="3017520"/>
            <a:ext cx="3291840" cy="274320"/>
          </a:xfrm>
          <a:prstGeom prst="rect">
            <a:avLst/>
          </a:prstGeom>
          <a:noFill/>
          <a:ln/>
        </p:spPr>
        <p:txBody>
          <a:bodyPr wrap="square" lIns="0" tIns="0" rIns="0" bIns="0" rtlCol="0" anchor="ctr"/>
          <a:lstStyle/>
          <a:p>
            <a:pPr marL="0" indent="0">
              <a:buNone/>
            </a:pPr>
            <a:r>
              <a:rPr lang="en-US" sz="1100" dirty="0">
                <a:solidFill>
                  <a:srgbClr val="A0C4C1"/>
                </a:solidFill>
                <a:latin typeface="Calibri" pitchFamily="34" charset="0"/>
                <a:ea typeface="Calibri" pitchFamily="34" charset="-122"/>
                <a:cs typeface="Calibri" pitchFamily="34" charset="-120"/>
              </a:rPr>
              <a:t>Sleep, stress level, free buffer time</a:t>
            </a:r>
            <a:endParaRPr lang="en-US" sz="1100" dirty="0"/>
          </a:p>
        </p:txBody>
      </p:sp>
      <p:sp>
        <p:nvSpPr>
          <p:cNvPr id="13" name="Shape 10"/>
          <p:cNvSpPr/>
          <p:nvPr/>
        </p:nvSpPr>
        <p:spPr>
          <a:xfrm>
            <a:off x="457200" y="3566160"/>
            <a:ext cx="3566160" cy="731520"/>
          </a:xfrm>
          <a:prstGeom prst="rect">
            <a:avLst/>
          </a:prstGeom>
          <a:solidFill>
            <a:srgbClr val="24466E"/>
          </a:solidFill>
          <a:ln w="12700">
            <a:solidFill>
              <a:srgbClr val="2D5A7E"/>
            </a:solidFill>
            <a:prstDash val="solid"/>
          </a:ln>
        </p:spPr>
        <p:txBody>
          <a:bodyPr/>
          <a:lstStyle/>
          <a:p>
            <a:endParaRPr lang="en-US"/>
          </a:p>
        </p:txBody>
      </p:sp>
      <p:sp>
        <p:nvSpPr>
          <p:cNvPr id="14" name="Text 11"/>
          <p:cNvSpPr/>
          <p:nvPr/>
        </p:nvSpPr>
        <p:spPr>
          <a:xfrm>
            <a:off x="594360" y="3611880"/>
            <a:ext cx="329184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Priority</a:t>
            </a:r>
            <a:endParaRPr lang="en-US" sz="1300" dirty="0"/>
          </a:p>
        </p:txBody>
      </p:sp>
      <p:sp>
        <p:nvSpPr>
          <p:cNvPr id="15" name="Text 12"/>
          <p:cNvSpPr/>
          <p:nvPr/>
        </p:nvSpPr>
        <p:spPr>
          <a:xfrm>
            <a:off x="594360" y="3886200"/>
            <a:ext cx="3291840" cy="274320"/>
          </a:xfrm>
          <a:prstGeom prst="rect">
            <a:avLst/>
          </a:prstGeom>
          <a:noFill/>
          <a:ln/>
        </p:spPr>
        <p:txBody>
          <a:bodyPr wrap="square" lIns="0" tIns="0" rIns="0" bIns="0" rtlCol="0" anchor="ctr"/>
          <a:lstStyle/>
          <a:p>
            <a:pPr marL="0" indent="0">
              <a:buNone/>
            </a:pPr>
            <a:r>
              <a:rPr lang="en-US" sz="1100" dirty="0">
                <a:solidFill>
                  <a:srgbClr val="A0C4C1"/>
                </a:solidFill>
                <a:latin typeface="Calibri" pitchFamily="34" charset="0"/>
                <a:ea typeface="Calibri" pitchFamily="34" charset="-122"/>
                <a:cs typeface="Calibri" pitchFamily="34" charset="-120"/>
              </a:rPr>
              <a:t>High-stakes deadlines &amp; task clustering</a:t>
            </a:r>
            <a:endParaRPr lang="en-US" sz="1100" dirty="0"/>
          </a:p>
        </p:txBody>
      </p:sp>
      <p:pic>
        <p:nvPicPr>
          <p:cNvPr id="16" name="Image 1" descr="preencoded.png"/>
          <p:cNvPicPr>
            <a:picLocks noChangeAspect="1"/>
          </p:cNvPicPr>
          <p:nvPr/>
        </p:nvPicPr>
        <p:blipFill>
          <a:blip r:embed="rId5"/>
          <a:stretch>
            <a:fillRect/>
          </a:stretch>
        </p:blipFill>
        <p:spPr>
          <a:xfrm>
            <a:off x="4389120" y="2377440"/>
            <a:ext cx="457200" cy="457200"/>
          </a:xfrm>
          <a:prstGeom prst="rect">
            <a:avLst/>
          </a:prstGeom>
        </p:spPr>
      </p:pic>
      <p:sp>
        <p:nvSpPr>
          <p:cNvPr id="17" name="Shape 13"/>
          <p:cNvSpPr/>
          <p:nvPr/>
        </p:nvSpPr>
        <p:spPr>
          <a:xfrm>
            <a:off x="4983480" y="1188720"/>
            <a:ext cx="3840480" cy="3474720"/>
          </a:xfrm>
          <a:prstGeom prst="rect">
            <a:avLst/>
          </a:prstGeom>
          <a:solidFill>
            <a:srgbClr val="1E3A5F"/>
          </a:solidFill>
          <a:ln w="12700">
            <a:solidFill>
              <a:srgbClr val="14B8A6"/>
            </a:solidFill>
            <a:prstDash val="solid"/>
          </a:ln>
        </p:spPr>
        <p:txBody>
          <a:bodyPr/>
          <a:lstStyle/>
          <a:p>
            <a:endParaRPr lang="en-US"/>
          </a:p>
        </p:txBody>
      </p:sp>
      <p:sp>
        <p:nvSpPr>
          <p:cNvPr id="18" name="Text 14"/>
          <p:cNvSpPr/>
          <p:nvPr/>
        </p:nvSpPr>
        <p:spPr>
          <a:xfrm>
            <a:off x="5120640" y="1280160"/>
            <a:ext cx="3566160" cy="411480"/>
          </a:xfrm>
          <a:prstGeom prst="rect">
            <a:avLst/>
          </a:prstGeom>
          <a:noFill/>
          <a:ln/>
        </p:spPr>
        <p:txBody>
          <a:bodyPr wrap="square" lIns="0" tIns="0" rIns="0" bIns="0" rtlCol="0" anchor="ctr"/>
          <a:lstStyle/>
          <a:p>
            <a:pPr marL="0" indent="0">
              <a:buNone/>
            </a:pPr>
            <a:r>
              <a:rPr lang="en-US" sz="1500" b="1" dirty="0">
                <a:solidFill>
                  <a:srgbClr val="14B8A6"/>
                </a:solidFill>
                <a:latin typeface="Calibri" pitchFamily="34" charset="0"/>
                <a:ea typeface="Calibri" pitchFamily="34" charset="-122"/>
                <a:cs typeface="Calibri" pitchFamily="34" charset="-120"/>
              </a:rPr>
              <a:t>📤  System Output</a:t>
            </a:r>
            <a:endParaRPr lang="en-US" sz="1500" dirty="0"/>
          </a:p>
        </p:txBody>
      </p:sp>
      <p:sp>
        <p:nvSpPr>
          <p:cNvPr id="19" name="Shape 15"/>
          <p:cNvSpPr/>
          <p:nvPr/>
        </p:nvSpPr>
        <p:spPr>
          <a:xfrm>
            <a:off x="5120640" y="1828800"/>
            <a:ext cx="3566160" cy="594360"/>
          </a:xfrm>
          <a:prstGeom prst="rect">
            <a:avLst/>
          </a:prstGeom>
          <a:solidFill>
            <a:srgbClr val="2E5484"/>
          </a:solidFill>
          <a:ln w="12700">
            <a:solidFill>
              <a:srgbClr val="2D6A9A"/>
            </a:solidFill>
            <a:prstDash val="solid"/>
          </a:ln>
        </p:spPr>
        <p:txBody>
          <a:bodyPr/>
          <a:lstStyle/>
          <a:p>
            <a:endParaRPr lang="en-US"/>
          </a:p>
        </p:txBody>
      </p:sp>
      <p:sp>
        <p:nvSpPr>
          <p:cNvPr id="20" name="Text 16"/>
          <p:cNvSpPr/>
          <p:nvPr/>
        </p:nvSpPr>
        <p:spPr>
          <a:xfrm>
            <a:off x="5212080" y="1828800"/>
            <a:ext cx="3383280"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Risk Score 0–100</a:t>
            </a:r>
            <a:endParaRPr lang="en-US" sz="1300" dirty="0"/>
          </a:p>
        </p:txBody>
      </p:sp>
      <p:sp>
        <p:nvSpPr>
          <p:cNvPr id="21" name="Shape 17"/>
          <p:cNvSpPr/>
          <p:nvPr/>
        </p:nvSpPr>
        <p:spPr>
          <a:xfrm>
            <a:off x="5120640" y="2578608"/>
            <a:ext cx="3566160" cy="594360"/>
          </a:xfrm>
          <a:prstGeom prst="rect">
            <a:avLst/>
          </a:prstGeom>
          <a:solidFill>
            <a:srgbClr val="2E5484"/>
          </a:solidFill>
          <a:ln w="12700">
            <a:solidFill>
              <a:srgbClr val="2D6A9A"/>
            </a:solidFill>
            <a:prstDash val="solid"/>
          </a:ln>
        </p:spPr>
        <p:txBody>
          <a:bodyPr/>
          <a:lstStyle/>
          <a:p>
            <a:endParaRPr lang="en-US"/>
          </a:p>
        </p:txBody>
      </p:sp>
      <p:sp>
        <p:nvSpPr>
          <p:cNvPr id="22" name="Text 18"/>
          <p:cNvSpPr/>
          <p:nvPr/>
        </p:nvSpPr>
        <p:spPr>
          <a:xfrm>
            <a:off x="5212080" y="2578608"/>
            <a:ext cx="3383280"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Risk Level: Low / Moderate / High</a:t>
            </a:r>
            <a:endParaRPr lang="en-US" sz="1300" dirty="0"/>
          </a:p>
        </p:txBody>
      </p:sp>
      <p:sp>
        <p:nvSpPr>
          <p:cNvPr id="23" name="Shape 19"/>
          <p:cNvSpPr/>
          <p:nvPr/>
        </p:nvSpPr>
        <p:spPr>
          <a:xfrm>
            <a:off x="5120640" y="3328416"/>
            <a:ext cx="3566160" cy="594360"/>
          </a:xfrm>
          <a:prstGeom prst="rect">
            <a:avLst/>
          </a:prstGeom>
          <a:solidFill>
            <a:srgbClr val="2E5484"/>
          </a:solidFill>
          <a:ln w="12700">
            <a:solidFill>
              <a:srgbClr val="2D6A9A"/>
            </a:solidFill>
            <a:prstDash val="solid"/>
          </a:ln>
        </p:spPr>
        <p:txBody>
          <a:bodyPr/>
          <a:lstStyle/>
          <a:p>
            <a:endParaRPr lang="en-US"/>
          </a:p>
        </p:txBody>
      </p:sp>
      <p:sp>
        <p:nvSpPr>
          <p:cNvPr id="24" name="Text 20"/>
          <p:cNvSpPr/>
          <p:nvPr/>
        </p:nvSpPr>
        <p:spPr>
          <a:xfrm>
            <a:off x="5212080" y="3328416"/>
            <a:ext cx="3383280"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Contributing Factors</a:t>
            </a:r>
            <a:endParaRPr lang="en-US" sz="1300" dirty="0"/>
          </a:p>
        </p:txBody>
      </p:sp>
      <p:sp>
        <p:nvSpPr>
          <p:cNvPr id="25" name="Shape 21"/>
          <p:cNvSpPr/>
          <p:nvPr/>
        </p:nvSpPr>
        <p:spPr>
          <a:xfrm>
            <a:off x="5120640" y="4078224"/>
            <a:ext cx="3566160" cy="594360"/>
          </a:xfrm>
          <a:prstGeom prst="rect">
            <a:avLst/>
          </a:prstGeom>
          <a:solidFill>
            <a:srgbClr val="1D4A6A"/>
          </a:solidFill>
          <a:ln w="12700">
            <a:solidFill>
              <a:srgbClr val="2D6A9A"/>
            </a:solidFill>
            <a:prstDash val="solid"/>
          </a:ln>
        </p:spPr>
        <p:txBody>
          <a:bodyPr/>
          <a:lstStyle/>
          <a:p>
            <a:endParaRPr lang="en-US"/>
          </a:p>
        </p:txBody>
      </p:sp>
      <p:sp>
        <p:nvSpPr>
          <p:cNvPr id="26" name="Text 22"/>
          <p:cNvSpPr/>
          <p:nvPr/>
        </p:nvSpPr>
        <p:spPr>
          <a:xfrm>
            <a:off x="5212080" y="4078224"/>
            <a:ext cx="3383280" cy="594360"/>
          </a:xfrm>
          <a:prstGeom prst="rect">
            <a:avLst/>
          </a:prstGeom>
          <a:noFill/>
          <a:ln/>
        </p:spPr>
        <p:txBody>
          <a:bodyPr wrap="square" lIns="0" tIns="0" rIns="0" bIns="0" rtlCol="0" anchor="ctr"/>
          <a:lstStyle/>
          <a:p>
            <a:pPr marL="0" indent="0">
              <a:buNone/>
            </a:pPr>
            <a:r>
              <a:rPr lang="en-US" sz="1300" b="1" dirty="0">
                <a:solidFill>
                  <a:srgbClr val="14B8A6"/>
                </a:solidFill>
                <a:latin typeface="Calibri" pitchFamily="34" charset="0"/>
                <a:ea typeface="Calibri" pitchFamily="34" charset="-122"/>
                <a:cs typeface="Calibri" pitchFamily="34" charset="-120"/>
              </a:rPr>
              <a:t>Actionable Recommendations</a:t>
            </a:r>
            <a:endParaRPr lang="en-US" sz="1300" dirty="0"/>
          </a:p>
        </p:txBody>
      </p:sp>
    </p:spTree>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9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B4A"/>
          </a:solidFill>
          <a:ln w="12700">
            <a:solidFill>
              <a:srgbClr val="1A2B4A"/>
            </a:solidFill>
            <a:prstDash val="solid"/>
          </a:ln>
        </p:spPr>
        <p:txBody>
          <a:bodyPr/>
          <a:lstStyle/>
          <a:p>
            <a:endParaRPr lang="en-US"/>
          </a:p>
        </p:txBody>
      </p:sp>
      <p:pic>
        <p:nvPicPr>
          <p:cNvPr id="3" name="Image 0" descr="preencoded.png"/>
          <p:cNvPicPr>
            <a:picLocks noChangeAspect="1"/>
          </p:cNvPicPr>
          <p:nvPr/>
        </p:nvPicPr>
        <p:blipFill>
          <a:blip r:embed="rId4"/>
          <a:stretch>
            <a:fillRect/>
          </a:stretch>
        </p:blipFill>
        <p:spPr>
          <a:xfrm>
            <a:off x="320040" y="201168"/>
            <a:ext cx="594360" cy="594360"/>
          </a:xfrm>
          <a:prstGeom prst="rect">
            <a:avLst/>
          </a:prstGeom>
        </p:spPr>
      </p:pic>
      <p:sp>
        <p:nvSpPr>
          <p:cNvPr id="4" name="Text 1"/>
          <p:cNvSpPr/>
          <p:nvPr/>
        </p:nvSpPr>
        <p:spPr>
          <a:xfrm>
            <a:off x="1051560" y="182880"/>
            <a:ext cx="731520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How It Works</a:t>
            </a:r>
            <a:endParaRPr lang="en-US" sz="2800" dirty="0"/>
          </a:p>
        </p:txBody>
      </p:sp>
      <p:sp>
        <p:nvSpPr>
          <p:cNvPr id="5" name="Shape 2"/>
          <p:cNvSpPr/>
          <p:nvPr/>
        </p:nvSpPr>
        <p:spPr>
          <a:xfrm>
            <a:off x="320040" y="1234440"/>
            <a:ext cx="2011680" cy="256032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txBody>
          <a:bodyPr/>
          <a:lstStyle/>
          <a:p>
            <a:endParaRPr lang="en-US"/>
          </a:p>
        </p:txBody>
      </p:sp>
      <p:sp>
        <p:nvSpPr>
          <p:cNvPr id="6" name="Shape 3"/>
          <p:cNvSpPr/>
          <p:nvPr/>
        </p:nvSpPr>
        <p:spPr>
          <a:xfrm>
            <a:off x="960120" y="1417320"/>
            <a:ext cx="731520" cy="731520"/>
          </a:xfrm>
          <a:prstGeom prst="ellipse">
            <a:avLst/>
          </a:prstGeom>
          <a:solidFill>
            <a:srgbClr val="0D9488"/>
          </a:solidFill>
          <a:ln w="12700">
            <a:solidFill>
              <a:srgbClr val="0D9488"/>
            </a:solidFill>
            <a:prstDash val="solid"/>
          </a:ln>
        </p:spPr>
        <p:txBody>
          <a:bodyPr/>
          <a:lstStyle/>
          <a:p>
            <a:endParaRPr lang="en-US"/>
          </a:p>
        </p:txBody>
      </p:sp>
      <p:sp>
        <p:nvSpPr>
          <p:cNvPr id="7" name="Text 4"/>
          <p:cNvSpPr/>
          <p:nvPr/>
        </p:nvSpPr>
        <p:spPr>
          <a:xfrm>
            <a:off x="960120" y="141732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8" name="Text 5"/>
          <p:cNvSpPr/>
          <p:nvPr/>
        </p:nvSpPr>
        <p:spPr>
          <a:xfrm>
            <a:off x="411480" y="2286000"/>
            <a:ext cx="1828800" cy="411480"/>
          </a:xfrm>
          <a:prstGeom prst="rect">
            <a:avLst/>
          </a:prstGeom>
          <a:noFill/>
          <a:ln/>
        </p:spPr>
        <p:txBody>
          <a:bodyPr wrap="square" lIns="0" tIns="0" rIns="0" bIns="0" rtlCol="0" anchor="ctr"/>
          <a:lstStyle/>
          <a:p>
            <a:pPr marL="0" indent="0" algn="ctr">
              <a:buNone/>
            </a:pPr>
            <a:r>
              <a:rPr lang="en-US" sz="1300" b="1" dirty="0">
                <a:solidFill>
                  <a:srgbClr val="1A2B4A"/>
                </a:solidFill>
                <a:latin typeface="Calibri" pitchFamily="34" charset="0"/>
                <a:ea typeface="Calibri" pitchFamily="34" charset="-122"/>
                <a:cs typeface="Calibri" pitchFamily="34" charset="-120"/>
              </a:rPr>
              <a:t>Workload Signal</a:t>
            </a:r>
            <a:endParaRPr lang="en-US" sz="1300" dirty="0"/>
          </a:p>
        </p:txBody>
      </p:sp>
      <p:sp>
        <p:nvSpPr>
          <p:cNvPr id="9" name="Text 6"/>
          <p:cNvSpPr/>
          <p:nvPr/>
        </p:nvSpPr>
        <p:spPr>
          <a:xfrm>
            <a:off x="411480" y="2724912"/>
            <a:ext cx="1828800" cy="91440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Tasks, exams, study hours, and clinical hours are normalized and weighted by severity.</a:t>
            </a:r>
            <a:endParaRPr lang="en-US" sz="1100" dirty="0"/>
          </a:p>
        </p:txBody>
      </p:sp>
      <p:sp>
        <p:nvSpPr>
          <p:cNvPr id="10" name="Shape 7"/>
          <p:cNvSpPr/>
          <p:nvPr/>
        </p:nvSpPr>
        <p:spPr>
          <a:xfrm>
            <a:off x="2350008" y="2514600"/>
            <a:ext cx="128016" cy="0"/>
          </a:xfrm>
          <a:prstGeom prst="line">
            <a:avLst/>
          </a:prstGeom>
          <a:noFill/>
          <a:ln w="25400">
            <a:solidFill>
              <a:srgbClr val="0D9488"/>
            </a:solidFill>
            <a:prstDash val="solid"/>
          </a:ln>
        </p:spPr>
        <p:txBody>
          <a:bodyPr/>
          <a:lstStyle/>
          <a:p>
            <a:endParaRPr lang="en-US"/>
          </a:p>
        </p:txBody>
      </p:sp>
      <p:sp>
        <p:nvSpPr>
          <p:cNvPr id="11" name="Shape 8"/>
          <p:cNvSpPr/>
          <p:nvPr/>
        </p:nvSpPr>
        <p:spPr>
          <a:xfrm>
            <a:off x="2496312" y="1234440"/>
            <a:ext cx="2011680" cy="256032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txBody>
          <a:bodyPr/>
          <a:lstStyle/>
          <a:p>
            <a:endParaRPr lang="en-US"/>
          </a:p>
        </p:txBody>
      </p:sp>
      <p:sp>
        <p:nvSpPr>
          <p:cNvPr id="12" name="Shape 9"/>
          <p:cNvSpPr/>
          <p:nvPr/>
        </p:nvSpPr>
        <p:spPr>
          <a:xfrm>
            <a:off x="3136392" y="1417320"/>
            <a:ext cx="731520" cy="731520"/>
          </a:xfrm>
          <a:prstGeom prst="ellipse">
            <a:avLst/>
          </a:prstGeom>
          <a:solidFill>
            <a:srgbClr val="14B8A6"/>
          </a:solidFill>
          <a:ln w="12700">
            <a:solidFill>
              <a:srgbClr val="14B8A6"/>
            </a:solidFill>
            <a:prstDash val="solid"/>
          </a:ln>
        </p:spPr>
        <p:txBody>
          <a:bodyPr/>
          <a:lstStyle/>
          <a:p>
            <a:endParaRPr lang="en-US"/>
          </a:p>
        </p:txBody>
      </p:sp>
      <p:sp>
        <p:nvSpPr>
          <p:cNvPr id="13" name="Text 10"/>
          <p:cNvSpPr/>
          <p:nvPr/>
        </p:nvSpPr>
        <p:spPr>
          <a:xfrm>
            <a:off x="3136392" y="141732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4" name="Text 11"/>
          <p:cNvSpPr/>
          <p:nvPr/>
        </p:nvSpPr>
        <p:spPr>
          <a:xfrm>
            <a:off x="2587752" y="2286000"/>
            <a:ext cx="1828800" cy="411480"/>
          </a:xfrm>
          <a:prstGeom prst="rect">
            <a:avLst/>
          </a:prstGeom>
          <a:noFill/>
          <a:ln/>
        </p:spPr>
        <p:txBody>
          <a:bodyPr wrap="square" lIns="0" tIns="0" rIns="0" bIns="0" rtlCol="0" anchor="ctr"/>
          <a:lstStyle/>
          <a:p>
            <a:pPr marL="0" indent="0" algn="ctr">
              <a:buNone/>
            </a:pPr>
            <a:r>
              <a:rPr lang="en-US" sz="1300" b="1" dirty="0">
                <a:solidFill>
                  <a:srgbClr val="1A2B4A"/>
                </a:solidFill>
                <a:latin typeface="Calibri" pitchFamily="34" charset="0"/>
                <a:ea typeface="Calibri" pitchFamily="34" charset="-122"/>
                <a:cs typeface="Calibri" pitchFamily="34" charset="-120"/>
              </a:rPr>
              <a:t>Recovery Signal</a:t>
            </a:r>
            <a:endParaRPr lang="en-US" sz="1300" dirty="0"/>
          </a:p>
        </p:txBody>
      </p:sp>
      <p:sp>
        <p:nvSpPr>
          <p:cNvPr id="15" name="Text 12"/>
          <p:cNvSpPr/>
          <p:nvPr/>
        </p:nvSpPr>
        <p:spPr>
          <a:xfrm>
            <a:off x="2587752" y="2724912"/>
            <a:ext cx="1828800" cy="91440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Sleep, stress level, and free buffer time are scored as deficit metrics.</a:t>
            </a:r>
            <a:endParaRPr lang="en-US" sz="1100" dirty="0"/>
          </a:p>
        </p:txBody>
      </p:sp>
      <p:sp>
        <p:nvSpPr>
          <p:cNvPr id="16" name="Shape 13"/>
          <p:cNvSpPr/>
          <p:nvPr/>
        </p:nvSpPr>
        <p:spPr>
          <a:xfrm>
            <a:off x="4526280" y="2514600"/>
            <a:ext cx="128016" cy="0"/>
          </a:xfrm>
          <a:prstGeom prst="line">
            <a:avLst/>
          </a:prstGeom>
          <a:noFill/>
          <a:ln w="25400">
            <a:solidFill>
              <a:srgbClr val="0D9488"/>
            </a:solidFill>
            <a:prstDash val="solid"/>
          </a:ln>
        </p:spPr>
        <p:txBody>
          <a:bodyPr/>
          <a:lstStyle/>
          <a:p>
            <a:endParaRPr lang="en-US"/>
          </a:p>
        </p:txBody>
      </p:sp>
      <p:sp>
        <p:nvSpPr>
          <p:cNvPr id="17" name="Shape 14"/>
          <p:cNvSpPr/>
          <p:nvPr/>
        </p:nvSpPr>
        <p:spPr>
          <a:xfrm>
            <a:off x="4672584" y="1234440"/>
            <a:ext cx="2011680" cy="256032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txBody>
          <a:bodyPr/>
          <a:lstStyle/>
          <a:p>
            <a:endParaRPr lang="en-US"/>
          </a:p>
        </p:txBody>
      </p:sp>
      <p:sp>
        <p:nvSpPr>
          <p:cNvPr id="18" name="Shape 15"/>
          <p:cNvSpPr/>
          <p:nvPr/>
        </p:nvSpPr>
        <p:spPr>
          <a:xfrm>
            <a:off x="5312664" y="1417320"/>
            <a:ext cx="731520" cy="731520"/>
          </a:xfrm>
          <a:prstGeom prst="ellipse">
            <a:avLst/>
          </a:prstGeom>
          <a:solidFill>
            <a:srgbClr val="F59E0B"/>
          </a:solidFill>
          <a:ln w="12700">
            <a:solidFill>
              <a:srgbClr val="F59E0B"/>
            </a:solidFill>
            <a:prstDash val="solid"/>
          </a:ln>
        </p:spPr>
        <p:txBody>
          <a:bodyPr/>
          <a:lstStyle/>
          <a:p>
            <a:endParaRPr lang="en-US"/>
          </a:p>
        </p:txBody>
      </p:sp>
      <p:sp>
        <p:nvSpPr>
          <p:cNvPr id="19" name="Text 16"/>
          <p:cNvSpPr/>
          <p:nvPr/>
        </p:nvSpPr>
        <p:spPr>
          <a:xfrm>
            <a:off x="5312664" y="141732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0" name="Text 17"/>
          <p:cNvSpPr/>
          <p:nvPr/>
        </p:nvSpPr>
        <p:spPr>
          <a:xfrm>
            <a:off x="4764024" y="2286000"/>
            <a:ext cx="1828800" cy="411480"/>
          </a:xfrm>
          <a:prstGeom prst="rect">
            <a:avLst/>
          </a:prstGeom>
          <a:noFill/>
          <a:ln/>
        </p:spPr>
        <p:txBody>
          <a:bodyPr wrap="square" lIns="0" tIns="0" rIns="0" bIns="0" rtlCol="0" anchor="ctr"/>
          <a:lstStyle/>
          <a:p>
            <a:pPr marL="0" indent="0" algn="ctr">
              <a:buNone/>
            </a:pPr>
            <a:r>
              <a:rPr lang="en-US" sz="1300" b="1" dirty="0">
                <a:solidFill>
                  <a:srgbClr val="1A2B4A"/>
                </a:solidFill>
                <a:latin typeface="Calibri" pitchFamily="34" charset="0"/>
                <a:ea typeface="Calibri" pitchFamily="34" charset="-122"/>
                <a:cs typeface="Calibri" pitchFamily="34" charset="-120"/>
              </a:rPr>
              <a:t>Risk Amplifiers</a:t>
            </a:r>
            <a:endParaRPr lang="en-US" sz="1300" dirty="0"/>
          </a:p>
        </p:txBody>
      </p:sp>
      <p:sp>
        <p:nvSpPr>
          <p:cNvPr id="21" name="Text 18"/>
          <p:cNvSpPr/>
          <p:nvPr/>
        </p:nvSpPr>
        <p:spPr>
          <a:xfrm>
            <a:off x="4764024" y="2724912"/>
            <a:ext cx="1828800" cy="91440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Compressed task clustering and high-priority overlap boost score non-linearly.</a:t>
            </a:r>
            <a:endParaRPr lang="en-US" sz="1100" dirty="0"/>
          </a:p>
        </p:txBody>
      </p:sp>
      <p:sp>
        <p:nvSpPr>
          <p:cNvPr id="22" name="Shape 19"/>
          <p:cNvSpPr/>
          <p:nvPr/>
        </p:nvSpPr>
        <p:spPr>
          <a:xfrm>
            <a:off x="6702552" y="2514600"/>
            <a:ext cx="128016" cy="0"/>
          </a:xfrm>
          <a:prstGeom prst="line">
            <a:avLst/>
          </a:prstGeom>
          <a:noFill/>
          <a:ln w="25400">
            <a:solidFill>
              <a:srgbClr val="0D9488"/>
            </a:solidFill>
            <a:prstDash val="solid"/>
          </a:ln>
        </p:spPr>
        <p:txBody>
          <a:bodyPr/>
          <a:lstStyle/>
          <a:p>
            <a:endParaRPr lang="en-US"/>
          </a:p>
        </p:txBody>
      </p:sp>
      <p:sp>
        <p:nvSpPr>
          <p:cNvPr id="23" name="Shape 20"/>
          <p:cNvSpPr/>
          <p:nvPr/>
        </p:nvSpPr>
        <p:spPr>
          <a:xfrm>
            <a:off x="6848856" y="1234440"/>
            <a:ext cx="2011680" cy="256032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txBody>
          <a:bodyPr/>
          <a:lstStyle/>
          <a:p>
            <a:endParaRPr lang="en-US"/>
          </a:p>
        </p:txBody>
      </p:sp>
      <p:sp>
        <p:nvSpPr>
          <p:cNvPr id="24" name="Shape 21"/>
          <p:cNvSpPr/>
          <p:nvPr/>
        </p:nvSpPr>
        <p:spPr>
          <a:xfrm>
            <a:off x="7488936" y="1417320"/>
            <a:ext cx="731520" cy="731520"/>
          </a:xfrm>
          <a:prstGeom prst="ellipse">
            <a:avLst/>
          </a:prstGeom>
          <a:solidFill>
            <a:srgbClr val="EF4444"/>
          </a:solidFill>
          <a:ln w="12700">
            <a:solidFill>
              <a:srgbClr val="EF4444"/>
            </a:solidFill>
            <a:prstDash val="solid"/>
          </a:ln>
        </p:spPr>
        <p:txBody>
          <a:bodyPr/>
          <a:lstStyle/>
          <a:p>
            <a:endParaRPr lang="en-US"/>
          </a:p>
        </p:txBody>
      </p:sp>
      <p:sp>
        <p:nvSpPr>
          <p:cNvPr id="25" name="Text 22"/>
          <p:cNvSpPr/>
          <p:nvPr/>
        </p:nvSpPr>
        <p:spPr>
          <a:xfrm>
            <a:off x="7488936" y="141732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6" name="Text 23"/>
          <p:cNvSpPr/>
          <p:nvPr/>
        </p:nvSpPr>
        <p:spPr>
          <a:xfrm>
            <a:off x="6940296" y="2286000"/>
            <a:ext cx="1828800" cy="411480"/>
          </a:xfrm>
          <a:prstGeom prst="rect">
            <a:avLst/>
          </a:prstGeom>
          <a:noFill/>
          <a:ln/>
        </p:spPr>
        <p:txBody>
          <a:bodyPr wrap="square" lIns="0" tIns="0" rIns="0" bIns="0" rtlCol="0" anchor="ctr"/>
          <a:lstStyle/>
          <a:p>
            <a:pPr marL="0" indent="0" algn="ctr">
              <a:buNone/>
            </a:pPr>
            <a:r>
              <a:rPr lang="en-US" sz="1300" b="1" dirty="0">
                <a:solidFill>
                  <a:srgbClr val="1A2B4A"/>
                </a:solidFill>
                <a:latin typeface="Calibri" pitchFamily="34" charset="0"/>
                <a:ea typeface="Calibri" pitchFamily="34" charset="-122"/>
                <a:cs typeface="Calibri" pitchFamily="34" charset="-120"/>
              </a:rPr>
              <a:t>Risk Score + Label</a:t>
            </a:r>
            <a:endParaRPr lang="en-US" sz="1300" dirty="0"/>
          </a:p>
        </p:txBody>
      </p:sp>
      <p:sp>
        <p:nvSpPr>
          <p:cNvPr id="27" name="Text 24"/>
          <p:cNvSpPr/>
          <p:nvPr/>
        </p:nvSpPr>
        <p:spPr>
          <a:xfrm>
            <a:off x="6940296" y="2724912"/>
            <a:ext cx="1828800" cy="91440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0–100 score is bucketed into Low / Moderate / High with explanations and recommendations.</a:t>
            </a:r>
            <a:endParaRPr lang="en-US" sz="1100" dirty="0"/>
          </a:p>
        </p:txBody>
      </p:sp>
      <p:sp>
        <p:nvSpPr>
          <p:cNvPr id="28" name="Shape 25"/>
          <p:cNvSpPr/>
          <p:nvPr/>
        </p:nvSpPr>
        <p:spPr>
          <a:xfrm>
            <a:off x="320040" y="3977640"/>
            <a:ext cx="8503920" cy="868680"/>
          </a:xfrm>
          <a:prstGeom prst="rect">
            <a:avLst/>
          </a:prstGeom>
          <a:solidFill>
            <a:srgbClr val="E0F2F1"/>
          </a:solidFill>
          <a:ln w="12700">
            <a:solidFill>
              <a:srgbClr val="14B8A6"/>
            </a:solidFill>
            <a:prstDash val="solid"/>
          </a:ln>
        </p:spPr>
        <p:txBody>
          <a:bodyPr/>
          <a:lstStyle/>
          <a:p>
            <a:endParaRPr lang="en-US"/>
          </a:p>
        </p:txBody>
      </p:sp>
      <p:pic>
        <p:nvPicPr>
          <p:cNvPr id="29" name="Image 1" descr="preencoded.png"/>
          <p:cNvPicPr>
            <a:picLocks noChangeAspect="1"/>
          </p:cNvPicPr>
          <p:nvPr/>
        </p:nvPicPr>
        <p:blipFill>
          <a:blip r:embed="rId5"/>
          <a:stretch>
            <a:fillRect/>
          </a:stretch>
        </p:blipFill>
        <p:spPr>
          <a:xfrm>
            <a:off x="457200" y="4096512"/>
            <a:ext cx="457200" cy="457200"/>
          </a:xfrm>
          <a:prstGeom prst="rect">
            <a:avLst/>
          </a:prstGeom>
        </p:spPr>
      </p:pic>
      <p:sp>
        <p:nvSpPr>
          <p:cNvPr id="30" name="Text 26"/>
          <p:cNvSpPr/>
          <p:nvPr/>
        </p:nvSpPr>
        <p:spPr>
          <a:xfrm>
            <a:off x="1051560" y="4069080"/>
            <a:ext cx="7589520" cy="731520"/>
          </a:xfrm>
          <a:prstGeom prst="rect">
            <a:avLst/>
          </a:prstGeom>
          <a:noFill/>
          <a:ln/>
        </p:spPr>
        <p:txBody>
          <a:bodyPr wrap="square" lIns="0" tIns="0" rIns="0" bIns="0" rtlCol="0" anchor="ctr"/>
          <a:lstStyle/>
          <a:p>
            <a:pPr marL="0" indent="0">
              <a:buNone/>
            </a:pPr>
            <a:r>
              <a:rPr lang="en-US" sz="1400" dirty="0">
                <a:solidFill>
                  <a:srgbClr val="1A2B4A"/>
                </a:solidFill>
                <a:latin typeface="Calibri" pitchFamily="34" charset="0"/>
                <a:ea typeface="Calibri" pitchFamily="34" charset="-122"/>
                <a:cs typeface="Calibri" pitchFamily="34" charset="-120"/>
              </a:rPr>
              <a:t>Explainability First: Users see exactly why their score changed and what to adjust — no black box.</a:t>
            </a:r>
            <a:endParaRPr lang="en-US" sz="1400" dirty="0"/>
          </a:p>
        </p:txBody>
      </p:sp>
    </p:spTree>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2B4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9488"/>
          </a:solidFill>
          <a:ln w="12700">
            <a:solidFill>
              <a:srgbClr val="0D9488"/>
            </a:solidFill>
            <a:prstDash val="solid"/>
          </a:ln>
        </p:spPr>
        <p:txBody>
          <a:bodyPr/>
          <a:lstStyle/>
          <a:p>
            <a:endParaRPr lang="en-US"/>
          </a:p>
        </p:txBody>
      </p:sp>
      <p:pic>
        <p:nvPicPr>
          <p:cNvPr id="3" name="Image 0" descr="preencoded.png"/>
          <p:cNvPicPr>
            <a:picLocks noChangeAspect="1"/>
          </p:cNvPicPr>
          <p:nvPr/>
        </p:nvPicPr>
        <p:blipFill>
          <a:blip r:embed="rId4"/>
          <a:stretch>
            <a:fillRect/>
          </a:stretch>
        </p:blipFill>
        <p:spPr>
          <a:xfrm>
            <a:off x="320040" y="201168"/>
            <a:ext cx="594360" cy="594360"/>
          </a:xfrm>
          <a:prstGeom prst="rect">
            <a:avLst/>
          </a:prstGeom>
        </p:spPr>
      </p:pic>
      <p:sp>
        <p:nvSpPr>
          <p:cNvPr id="4" name="Text 1"/>
          <p:cNvSpPr/>
          <p:nvPr/>
        </p:nvSpPr>
        <p:spPr>
          <a:xfrm>
            <a:off x="1051560" y="182880"/>
            <a:ext cx="731520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Dashboard Features</a:t>
            </a:r>
            <a:endParaRPr lang="en-US" sz="2800" dirty="0"/>
          </a:p>
        </p:txBody>
      </p:sp>
      <p:sp>
        <p:nvSpPr>
          <p:cNvPr id="5" name="Shape 2"/>
          <p:cNvSpPr/>
          <p:nvPr/>
        </p:nvSpPr>
        <p:spPr>
          <a:xfrm>
            <a:off x="320040" y="1234440"/>
            <a:ext cx="2697480" cy="1691640"/>
          </a:xfrm>
          <a:prstGeom prst="rect">
            <a:avLst/>
          </a:prstGeom>
          <a:solidFill>
            <a:srgbClr val="1E3A5F"/>
          </a:solidFill>
          <a:ln w="12700">
            <a:solidFill>
              <a:srgbClr val="2D5A7E"/>
            </a:solidFill>
            <a:prstDash val="solid"/>
          </a:ln>
        </p:spPr>
        <p:txBody>
          <a:bodyPr/>
          <a:lstStyle/>
          <a:p>
            <a:endParaRPr lang="en-US"/>
          </a:p>
        </p:txBody>
      </p:sp>
      <p:sp>
        <p:nvSpPr>
          <p:cNvPr id="6" name="Shape 3"/>
          <p:cNvSpPr/>
          <p:nvPr/>
        </p:nvSpPr>
        <p:spPr>
          <a:xfrm>
            <a:off x="320040" y="1234440"/>
            <a:ext cx="2697480" cy="54864"/>
          </a:xfrm>
          <a:prstGeom prst="rect">
            <a:avLst/>
          </a:prstGeom>
          <a:solidFill>
            <a:srgbClr val="0D9488"/>
          </a:solidFill>
          <a:ln w="12700">
            <a:solidFill>
              <a:srgbClr val="0D9488"/>
            </a:solidFill>
            <a:prstDash val="solid"/>
          </a:ln>
        </p:spPr>
        <p:txBody>
          <a:bodyPr/>
          <a:lstStyle/>
          <a:p>
            <a:endParaRPr lang="en-US"/>
          </a:p>
        </p:txBody>
      </p:sp>
      <p:sp>
        <p:nvSpPr>
          <p:cNvPr id="7" name="Text 4"/>
          <p:cNvSpPr/>
          <p:nvPr/>
        </p:nvSpPr>
        <p:spPr>
          <a:xfrm>
            <a:off x="457200" y="1371600"/>
            <a:ext cx="2423160" cy="411480"/>
          </a:xfrm>
          <a:prstGeom prst="rect">
            <a:avLst/>
          </a:prstGeom>
          <a:noFill/>
          <a:ln/>
        </p:spPr>
        <p:txBody>
          <a:bodyPr wrap="square" lIns="0" tIns="0" rIns="0" bIns="0" rtlCol="0" anchor="ctr"/>
          <a:lstStyle/>
          <a:p>
            <a:pPr marL="0" indent="0">
              <a:buNone/>
            </a:pPr>
            <a:r>
              <a:rPr lang="en-US" sz="1400" b="1" dirty="0">
                <a:solidFill>
                  <a:srgbClr val="14B8A6"/>
                </a:solidFill>
                <a:latin typeface="Calibri" pitchFamily="34" charset="0"/>
                <a:ea typeface="Calibri" pitchFamily="34" charset="-122"/>
                <a:cs typeface="Calibri" pitchFamily="34" charset="-120"/>
              </a:rPr>
              <a:t>🎯  Live Risk Scoring</a:t>
            </a:r>
            <a:endParaRPr lang="en-US" sz="1400" dirty="0"/>
          </a:p>
        </p:txBody>
      </p:sp>
      <p:sp>
        <p:nvSpPr>
          <p:cNvPr id="8" name="Text 5"/>
          <p:cNvSpPr/>
          <p:nvPr/>
        </p:nvSpPr>
        <p:spPr>
          <a:xfrm>
            <a:off x="457200" y="1828800"/>
            <a:ext cx="2423160" cy="868680"/>
          </a:xfrm>
          <a:prstGeom prst="rect">
            <a:avLst/>
          </a:prstGeom>
          <a:noFill/>
          <a:ln/>
        </p:spPr>
        <p:txBody>
          <a:bodyPr wrap="square" lIns="0" tIns="0" rIns="0" bIns="0" rtlCol="0" anchor="ctr"/>
          <a:lstStyle/>
          <a:p>
            <a:pPr marL="0" indent="0">
              <a:buNone/>
            </a:pPr>
            <a:r>
              <a:rPr lang="en-US" sz="1150" dirty="0">
                <a:solidFill>
                  <a:srgbClr val="B0D4D0"/>
                </a:solidFill>
                <a:latin typeface="Calibri" pitchFamily="34" charset="0"/>
                <a:ea typeface="Calibri" pitchFamily="34" charset="-122"/>
                <a:cs typeface="Calibri" pitchFamily="34" charset="-120"/>
              </a:rPr>
              <a:t>FastAPI /api/v1/analyze endpoint returns explainable risk score + label in real time</a:t>
            </a:r>
            <a:endParaRPr lang="en-US" sz="1150" dirty="0"/>
          </a:p>
        </p:txBody>
      </p:sp>
      <p:sp>
        <p:nvSpPr>
          <p:cNvPr id="9" name="Shape 6"/>
          <p:cNvSpPr/>
          <p:nvPr/>
        </p:nvSpPr>
        <p:spPr>
          <a:xfrm>
            <a:off x="3200400" y="1234440"/>
            <a:ext cx="2697480" cy="1691640"/>
          </a:xfrm>
          <a:prstGeom prst="rect">
            <a:avLst/>
          </a:prstGeom>
          <a:solidFill>
            <a:srgbClr val="1E3A5F"/>
          </a:solidFill>
          <a:ln w="12700">
            <a:solidFill>
              <a:srgbClr val="2D5A7E"/>
            </a:solidFill>
            <a:prstDash val="solid"/>
          </a:ln>
        </p:spPr>
        <p:txBody>
          <a:bodyPr/>
          <a:lstStyle/>
          <a:p>
            <a:endParaRPr lang="en-US"/>
          </a:p>
        </p:txBody>
      </p:sp>
      <p:sp>
        <p:nvSpPr>
          <p:cNvPr id="10" name="Shape 7"/>
          <p:cNvSpPr/>
          <p:nvPr/>
        </p:nvSpPr>
        <p:spPr>
          <a:xfrm>
            <a:off x="3200400" y="1234440"/>
            <a:ext cx="2697480" cy="54864"/>
          </a:xfrm>
          <a:prstGeom prst="rect">
            <a:avLst/>
          </a:prstGeom>
          <a:solidFill>
            <a:srgbClr val="0D9488"/>
          </a:solidFill>
          <a:ln w="12700">
            <a:solidFill>
              <a:srgbClr val="0D9488"/>
            </a:solidFill>
            <a:prstDash val="solid"/>
          </a:ln>
        </p:spPr>
        <p:txBody>
          <a:bodyPr/>
          <a:lstStyle/>
          <a:p>
            <a:endParaRPr lang="en-US"/>
          </a:p>
        </p:txBody>
      </p:sp>
      <p:sp>
        <p:nvSpPr>
          <p:cNvPr id="11" name="Text 8"/>
          <p:cNvSpPr/>
          <p:nvPr/>
        </p:nvSpPr>
        <p:spPr>
          <a:xfrm>
            <a:off x="3337560" y="1371600"/>
            <a:ext cx="2423160" cy="411480"/>
          </a:xfrm>
          <a:prstGeom prst="rect">
            <a:avLst/>
          </a:prstGeom>
          <a:noFill/>
          <a:ln/>
        </p:spPr>
        <p:txBody>
          <a:bodyPr wrap="square" lIns="0" tIns="0" rIns="0" bIns="0" rtlCol="0" anchor="ctr"/>
          <a:lstStyle/>
          <a:p>
            <a:pPr marL="0" indent="0">
              <a:buNone/>
            </a:pPr>
            <a:r>
              <a:rPr lang="en-US" sz="1400" b="1" dirty="0">
                <a:solidFill>
                  <a:srgbClr val="14B8A6"/>
                </a:solidFill>
                <a:latin typeface="Calibri" pitchFamily="34" charset="0"/>
                <a:ea typeface="Calibri" pitchFamily="34" charset="-122"/>
                <a:cs typeface="Calibri" pitchFamily="34" charset="-120"/>
              </a:rPr>
              <a:t>🔮  What-If Simulator</a:t>
            </a:r>
            <a:endParaRPr lang="en-US" sz="1400" dirty="0"/>
          </a:p>
        </p:txBody>
      </p:sp>
      <p:sp>
        <p:nvSpPr>
          <p:cNvPr id="12" name="Text 9"/>
          <p:cNvSpPr/>
          <p:nvPr/>
        </p:nvSpPr>
        <p:spPr>
          <a:xfrm>
            <a:off x="3337560" y="1828800"/>
            <a:ext cx="2423160" cy="868680"/>
          </a:xfrm>
          <a:prstGeom prst="rect">
            <a:avLst/>
          </a:prstGeom>
          <a:noFill/>
          <a:ln/>
        </p:spPr>
        <p:txBody>
          <a:bodyPr wrap="square" lIns="0" tIns="0" rIns="0" bIns="0" rtlCol="0" anchor="ctr"/>
          <a:lstStyle/>
          <a:p>
            <a:pPr marL="0" indent="0">
              <a:buNone/>
            </a:pPr>
            <a:r>
              <a:rPr lang="en-US" sz="1150" dirty="0">
                <a:solidFill>
                  <a:srgbClr val="B0D4D0"/>
                </a:solidFill>
                <a:latin typeface="Calibri" pitchFamily="34" charset="0"/>
                <a:ea typeface="Calibri" pitchFamily="34" charset="-122"/>
                <a:cs typeface="Calibri" pitchFamily="34" charset="-120"/>
              </a:rPr>
              <a:t>Test alternative schedules before committing — see risk score change instantly</a:t>
            </a:r>
            <a:endParaRPr lang="en-US" sz="1150" dirty="0"/>
          </a:p>
        </p:txBody>
      </p:sp>
      <p:sp>
        <p:nvSpPr>
          <p:cNvPr id="13" name="Shape 10"/>
          <p:cNvSpPr/>
          <p:nvPr/>
        </p:nvSpPr>
        <p:spPr>
          <a:xfrm>
            <a:off x="6080760" y="1234440"/>
            <a:ext cx="2697480" cy="1691640"/>
          </a:xfrm>
          <a:prstGeom prst="rect">
            <a:avLst/>
          </a:prstGeom>
          <a:solidFill>
            <a:srgbClr val="1E3A5F"/>
          </a:solidFill>
          <a:ln w="12700">
            <a:solidFill>
              <a:srgbClr val="2D5A7E"/>
            </a:solidFill>
            <a:prstDash val="solid"/>
          </a:ln>
        </p:spPr>
        <p:txBody>
          <a:bodyPr/>
          <a:lstStyle/>
          <a:p>
            <a:endParaRPr lang="en-US"/>
          </a:p>
        </p:txBody>
      </p:sp>
      <p:sp>
        <p:nvSpPr>
          <p:cNvPr id="14" name="Shape 11"/>
          <p:cNvSpPr/>
          <p:nvPr/>
        </p:nvSpPr>
        <p:spPr>
          <a:xfrm>
            <a:off x="6080760" y="1234440"/>
            <a:ext cx="2697480" cy="54864"/>
          </a:xfrm>
          <a:prstGeom prst="rect">
            <a:avLst/>
          </a:prstGeom>
          <a:solidFill>
            <a:srgbClr val="0D9488"/>
          </a:solidFill>
          <a:ln w="12700">
            <a:solidFill>
              <a:srgbClr val="0D9488"/>
            </a:solidFill>
            <a:prstDash val="solid"/>
          </a:ln>
        </p:spPr>
        <p:txBody>
          <a:bodyPr/>
          <a:lstStyle/>
          <a:p>
            <a:endParaRPr lang="en-US"/>
          </a:p>
        </p:txBody>
      </p:sp>
      <p:sp>
        <p:nvSpPr>
          <p:cNvPr id="15" name="Text 12"/>
          <p:cNvSpPr/>
          <p:nvPr/>
        </p:nvSpPr>
        <p:spPr>
          <a:xfrm>
            <a:off x="6217920" y="1371600"/>
            <a:ext cx="2423160" cy="411480"/>
          </a:xfrm>
          <a:prstGeom prst="rect">
            <a:avLst/>
          </a:prstGeom>
          <a:noFill/>
          <a:ln/>
        </p:spPr>
        <p:txBody>
          <a:bodyPr wrap="square" lIns="0" tIns="0" rIns="0" bIns="0" rtlCol="0" anchor="ctr"/>
          <a:lstStyle/>
          <a:p>
            <a:pPr marL="0" indent="0">
              <a:buNone/>
            </a:pPr>
            <a:r>
              <a:rPr lang="en-US" sz="1400" b="1" dirty="0">
                <a:solidFill>
                  <a:srgbClr val="14B8A6"/>
                </a:solidFill>
                <a:latin typeface="Calibri" pitchFamily="34" charset="0"/>
                <a:ea typeface="Calibri" pitchFamily="34" charset="-122"/>
                <a:cs typeface="Calibri" pitchFamily="34" charset="-120"/>
              </a:rPr>
              <a:t>📈  Trend Chart</a:t>
            </a:r>
            <a:endParaRPr lang="en-US" sz="1400" dirty="0"/>
          </a:p>
        </p:txBody>
      </p:sp>
      <p:sp>
        <p:nvSpPr>
          <p:cNvPr id="16" name="Text 13"/>
          <p:cNvSpPr/>
          <p:nvPr/>
        </p:nvSpPr>
        <p:spPr>
          <a:xfrm>
            <a:off x="6217920" y="1828800"/>
            <a:ext cx="2423160" cy="868680"/>
          </a:xfrm>
          <a:prstGeom prst="rect">
            <a:avLst/>
          </a:prstGeom>
          <a:noFill/>
          <a:ln/>
        </p:spPr>
        <p:txBody>
          <a:bodyPr wrap="square" lIns="0" tIns="0" rIns="0" bIns="0" rtlCol="0" anchor="ctr"/>
          <a:lstStyle/>
          <a:p>
            <a:pPr marL="0" indent="0">
              <a:buNone/>
            </a:pPr>
            <a:r>
              <a:rPr lang="en-US" sz="1150" dirty="0">
                <a:solidFill>
                  <a:srgbClr val="B0D4D0"/>
                </a:solidFill>
                <a:latin typeface="Calibri" pitchFamily="34" charset="0"/>
                <a:ea typeface="Calibri" pitchFamily="34" charset="-122"/>
                <a:cs typeface="Calibri" pitchFamily="34" charset="-120"/>
              </a:rPr>
              <a:t>Multi-week snapshots track risk trajectory; drag-and-drop panel reordering</a:t>
            </a:r>
            <a:endParaRPr lang="en-US" sz="1150" dirty="0"/>
          </a:p>
        </p:txBody>
      </p:sp>
      <p:sp>
        <p:nvSpPr>
          <p:cNvPr id="17" name="Shape 14"/>
          <p:cNvSpPr/>
          <p:nvPr/>
        </p:nvSpPr>
        <p:spPr>
          <a:xfrm>
            <a:off x="320040" y="3154680"/>
            <a:ext cx="2697480" cy="1691640"/>
          </a:xfrm>
          <a:prstGeom prst="rect">
            <a:avLst/>
          </a:prstGeom>
          <a:solidFill>
            <a:srgbClr val="1E3A5F"/>
          </a:solidFill>
          <a:ln w="12700">
            <a:solidFill>
              <a:srgbClr val="2D5A7E"/>
            </a:solidFill>
            <a:prstDash val="solid"/>
          </a:ln>
        </p:spPr>
        <p:txBody>
          <a:bodyPr/>
          <a:lstStyle/>
          <a:p>
            <a:endParaRPr lang="en-US"/>
          </a:p>
        </p:txBody>
      </p:sp>
      <p:sp>
        <p:nvSpPr>
          <p:cNvPr id="18" name="Shape 15"/>
          <p:cNvSpPr/>
          <p:nvPr/>
        </p:nvSpPr>
        <p:spPr>
          <a:xfrm>
            <a:off x="320040" y="3154680"/>
            <a:ext cx="2697480" cy="54864"/>
          </a:xfrm>
          <a:prstGeom prst="rect">
            <a:avLst/>
          </a:prstGeom>
          <a:solidFill>
            <a:srgbClr val="0D9488"/>
          </a:solidFill>
          <a:ln w="12700">
            <a:solidFill>
              <a:srgbClr val="0D9488"/>
            </a:solidFill>
            <a:prstDash val="solid"/>
          </a:ln>
        </p:spPr>
        <p:txBody>
          <a:bodyPr/>
          <a:lstStyle/>
          <a:p>
            <a:endParaRPr lang="en-US"/>
          </a:p>
        </p:txBody>
      </p:sp>
      <p:sp>
        <p:nvSpPr>
          <p:cNvPr id="19" name="Text 16"/>
          <p:cNvSpPr/>
          <p:nvPr/>
        </p:nvSpPr>
        <p:spPr>
          <a:xfrm>
            <a:off x="457200" y="3291840"/>
            <a:ext cx="2423160" cy="411480"/>
          </a:xfrm>
          <a:prstGeom prst="rect">
            <a:avLst/>
          </a:prstGeom>
          <a:noFill/>
          <a:ln/>
        </p:spPr>
        <p:txBody>
          <a:bodyPr wrap="square" lIns="0" tIns="0" rIns="0" bIns="0" rtlCol="0" anchor="ctr"/>
          <a:lstStyle/>
          <a:p>
            <a:pPr marL="0" indent="0">
              <a:buNone/>
            </a:pPr>
            <a:r>
              <a:rPr lang="en-US" sz="1400" b="1" dirty="0">
                <a:solidFill>
                  <a:srgbClr val="14B8A6"/>
                </a:solidFill>
                <a:latin typeface="Calibri" pitchFamily="34" charset="0"/>
                <a:ea typeface="Calibri" pitchFamily="34" charset="-122"/>
                <a:cs typeface="Calibri" pitchFamily="34" charset="-120"/>
              </a:rPr>
              <a:t>🔬  Research Signal Feed</a:t>
            </a:r>
            <a:endParaRPr lang="en-US" sz="1400" dirty="0"/>
          </a:p>
        </p:txBody>
      </p:sp>
      <p:sp>
        <p:nvSpPr>
          <p:cNvPr id="20" name="Text 17"/>
          <p:cNvSpPr/>
          <p:nvPr/>
        </p:nvSpPr>
        <p:spPr>
          <a:xfrm>
            <a:off x="457200" y="3749040"/>
            <a:ext cx="2423160" cy="868680"/>
          </a:xfrm>
          <a:prstGeom prst="rect">
            <a:avLst/>
          </a:prstGeom>
          <a:noFill/>
          <a:ln/>
        </p:spPr>
        <p:txBody>
          <a:bodyPr wrap="square" lIns="0" tIns="0" rIns="0" bIns="0" rtlCol="0" anchor="ctr"/>
          <a:lstStyle/>
          <a:p>
            <a:pPr marL="0" indent="0">
              <a:buNone/>
            </a:pPr>
            <a:r>
              <a:rPr lang="en-US" sz="1150" dirty="0">
                <a:solidFill>
                  <a:srgbClr val="B0D4D0"/>
                </a:solidFill>
                <a:latin typeface="Calibri" pitchFamily="34" charset="0"/>
                <a:ea typeface="Calibri" pitchFamily="34" charset="-122"/>
                <a:cs typeface="Calibri" pitchFamily="34" charset="-120"/>
              </a:rPr>
              <a:t>Daily research page with valid external links, infinite scroll, and paged API loading</a:t>
            </a:r>
            <a:endParaRPr lang="en-US" sz="1150" dirty="0"/>
          </a:p>
        </p:txBody>
      </p:sp>
      <p:sp>
        <p:nvSpPr>
          <p:cNvPr id="21" name="Shape 18"/>
          <p:cNvSpPr/>
          <p:nvPr/>
        </p:nvSpPr>
        <p:spPr>
          <a:xfrm>
            <a:off x="3200400" y="3154680"/>
            <a:ext cx="2697480" cy="1691640"/>
          </a:xfrm>
          <a:prstGeom prst="rect">
            <a:avLst/>
          </a:prstGeom>
          <a:solidFill>
            <a:srgbClr val="1E3A5F"/>
          </a:solidFill>
          <a:ln w="12700">
            <a:solidFill>
              <a:srgbClr val="2D5A7E"/>
            </a:solidFill>
            <a:prstDash val="solid"/>
          </a:ln>
        </p:spPr>
        <p:txBody>
          <a:bodyPr/>
          <a:lstStyle/>
          <a:p>
            <a:endParaRPr lang="en-US"/>
          </a:p>
        </p:txBody>
      </p:sp>
      <p:sp>
        <p:nvSpPr>
          <p:cNvPr id="22" name="Shape 19"/>
          <p:cNvSpPr/>
          <p:nvPr/>
        </p:nvSpPr>
        <p:spPr>
          <a:xfrm>
            <a:off x="3200400" y="3154680"/>
            <a:ext cx="2697480" cy="54864"/>
          </a:xfrm>
          <a:prstGeom prst="rect">
            <a:avLst/>
          </a:prstGeom>
          <a:solidFill>
            <a:srgbClr val="0D9488"/>
          </a:solidFill>
          <a:ln w="12700">
            <a:solidFill>
              <a:srgbClr val="0D9488"/>
            </a:solidFill>
            <a:prstDash val="solid"/>
          </a:ln>
        </p:spPr>
        <p:txBody>
          <a:bodyPr/>
          <a:lstStyle/>
          <a:p>
            <a:endParaRPr lang="en-US"/>
          </a:p>
        </p:txBody>
      </p:sp>
      <p:sp>
        <p:nvSpPr>
          <p:cNvPr id="23" name="Text 20"/>
          <p:cNvSpPr/>
          <p:nvPr/>
        </p:nvSpPr>
        <p:spPr>
          <a:xfrm>
            <a:off x="3337560" y="3291840"/>
            <a:ext cx="2423160" cy="411480"/>
          </a:xfrm>
          <a:prstGeom prst="rect">
            <a:avLst/>
          </a:prstGeom>
          <a:noFill/>
          <a:ln/>
        </p:spPr>
        <p:txBody>
          <a:bodyPr wrap="square" lIns="0" tIns="0" rIns="0" bIns="0" rtlCol="0" anchor="ctr"/>
          <a:lstStyle/>
          <a:p>
            <a:pPr marL="0" indent="0">
              <a:buNone/>
            </a:pPr>
            <a:r>
              <a:rPr lang="en-US" sz="1400" b="1" dirty="0">
                <a:solidFill>
                  <a:srgbClr val="14B8A6"/>
                </a:solidFill>
                <a:latin typeface="Calibri" pitchFamily="34" charset="0"/>
                <a:ea typeface="Calibri" pitchFamily="34" charset="-122"/>
                <a:cs typeface="Calibri" pitchFamily="34" charset="-120"/>
              </a:rPr>
              <a:t>🔐  Auth &amp; Sessions</a:t>
            </a:r>
            <a:endParaRPr lang="en-US" sz="1400" dirty="0"/>
          </a:p>
        </p:txBody>
      </p:sp>
      <p:sp>
        <p:nvSpPr>
          <p:cNvPr id="24" name="Text 21"/>
          <p:cNvSpPr/>
          <p:nvPr/>
        </p:nvSpPr>
        <p:spPr>
          <a:xfrm>
            <a:off x="3337560" y="3749040"/>
            <a:ext cx="2423160" cy="868680"/>
          </a:xfrm>
          <a:prstGeom prst="rect">
            <a:avLst/>
          </a:prstGeom>
          <a:noFill/>
          <a:ln/>
        </p:spPr>
        <p:txBody>
          <a:bodyPr wrap="square" lIns="0" tIns="0" rIns="0" bIns="0" rtlCol="0" anchor="ctr"/>
          <a:lstStyle/>
          <a:p>
            <a:pPr marL="0" indent="0">
              <a:buNone/>
            </a:pPr>
            <a:r>
              <a:rPr lang="en-US" sz="1150" dirty="0">
                <a:solidFill>
                  <a:srgbClr val="B0D4D0"/>
                </a:solidFill>
                <a:latin typeface="Calibri" pitchFamily="34" charset="0"/>
                <a:ea typeface="Calibri" pitchFamily="34" charset="-122"/>
                <a:cs typeface="Calibri" pitchFamily="34" charset="-120"/>
              </a:rPr>
              <a:t>Cookie-session login/signup flow with /login and /signup pages</a:t>
            </a:r>
            <a:endParaRPr lang="en-US" sz="1150" dirty="0"/>
          </a:p>
        </p:txBody>
      </p:sp>
      <p:sp>
        <p:nvSpPr>
          <p:cNvPr id="25" name="Shape 22"/>
          <p:cNvSpPr/>
          <p:nvPr/>
        </p:nvSpPr>
        <p:spPr>
          <a:xfrm>
            <a:off x="6080760" y="3154680"/>
            <a:ext cx="2697480" cy="1691640"/>
          </a:xfrm>
          <a:prstGeom prst="rect">
            <a:avLst/>
          </a:prstGeom>
          <a:solidFill>
            <a:srgbClr val="1E3A5F"/>
          </a:solidFill>
          <a:ln w="12700">
            <a:solidFill>
              <a:srgbClr val="2D5A7E"/>
            </a:solidFill>
            <a:prstDash val="solid"/>
          </a:ln>
        </p:spPr>
        <p:txBody>
          <a:bodyPr/>
          <a:lstStyle/>
          <a:p>
            <a:endParaRPr lang="en-US"/>
          </a:p>
        </p:txBody>
      </p:sp>
      <p:sp>
        <p:nvSpPr>
          <p:cNvPr id="26" name="Shape 23"/>
          <p:cNvSpPr/>
          <p:nvPr/>
        </p:nvSpPr>
        <p:spPr>
          <a:xfrm>
            <a:off x="6080760" y="3154680"/>
            <a:ext cx="2697480" cy="54864"/>
          </a:xfrm>
          <a:prstGeom prst="rect">
            <a:avLst/>
          </a:prstGeom>
          <a:solidFill>
            <a:srgbClr val="0D9488"/>
          </a:solidFill>
          <a:ln w="12700">
            <a:solidFill>
              <a:srgbClr val="0D9488"/>
            </a:solidFill>
            <a:prstDash val="solid"/>
          </a:ln>
        </p:spPr>
        <p:txBody>
          <a:bodyPr/>
          <a:lstStyle/>
          <a:p>
            <a:endParaRPr lang="en-US"/>
          </a:p>
        </p:txBody>
      </p:sp>
      <p:sp>
        <p:nvSpPr>
          <p:cNvPr id="27" name="Text 24"/>
          <p:cNvSpPr/>
          <p:nvPr/>
        </p:nvSpPr>
        <p:spPr>
          <a:xfrm>
            <a:off x="6217920" y="3291840"/>
            <a:ext cx="2423160" cy="411480"/>
          </a:xfrm>
          <a:prstGeom prst="rect">
            <a:avLst/>
          </a:prstGeom>
          <a:noFill/>
          <a:ln/>
        </p:spPr>
        <p:txBody>
          <a:bodyPr wrap="square" lIns="0" tIns="0" rIns="0" bIns="0" rtlCol="0" anchor="ctr"/>
          <a:lstStyle/>
          <a:p>
            <a:pPr marL="0" indent="0">
              <a:buNone/>
            </a:pPr>
            <a:r>
              <a:rPr lang="en-US" sz="1400" b="1" dirty="0">
                <a:solidFill>
                  <a:srgbClr val="14B8A6"/>
                </a:solidFill>
                <a:latin typeface="Calibri" pitchFamily="34" charset="0"/>
                <a:ea typeface="Calibri" pitchFamily="34" charset="-122"/>
                <a:cs typeface="Calibri" pitchFamily="34" charset="-120"/>
              </a:rPr>
              <a:t>🔊  Visual &amp; Audio Feedback</a:t>
            </a:r>
            <a:endParaRPr lang="en-US" sz="1400" dirty="0"/>
          </a:p>
        </p:txBody>
      </p:sp>
      <p:sp>
        <p:nvSpPr>
          <p:cNvPr id="28" name="Text 25"/>
          <p:cNvSpPr/>
          <p:nvPr/>
        </p:nvSpPr>
        <p:spPr>
          <a:xfrm>
            <a:off x="6217920" y="3749040"/>
            <a:ext cx="2423160" cy="868680"/>
          </a:xfrm>
          <a:prstGeom prst="rect">
            <a:avLst/>
          </a:prstGeom>
          <a:noFill/>
          <a:ln/>
        </p:spPr>
        <p:txBody>
          <a:bodyPr wrap="square" lIns="0" tIns="0" rIns="0" bIns="0" rtlCol="0" anchor="ctr"/>
          <a:lstStyle/>
          <a:p>
            <a:pPr marL="0" indent="0">
              <a:buNone/>
            </a:pPr>
            <a:r>
              <a:rPr lang="en-US" sz="1150" dirty="0">
                <a:solidFill>
                  <a:srgbClr val="B0D4D0"/>
                </a:solidFill>
                <a:latin typeface="Calibri" pitchFamily="34" charset="0"/>
                <a:ea typeface="Calibri" pitchFamily="34" charset="-122"/>
                <a:cs typeface="Calibri" pitchFamily="34" charset="-120"/>
              </a:rPr>
              <a:t>State-specific audio and visual cues for risk outcomes and preset actions</a:t>
            </a:r>
            <a:endParaRPr lang="en-US" sz="1150" dirty="0"/>
          </a:p>
        </p:txBody>
      </p:sp>
    </p:spTree>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9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B4A"/>
          </a:solidFill>
          <a:ln w="12700">
            <a:solidFill>
              <a:srgbClr val="1A2B4A"/>
            </a:solidFill>
            <a:prstDash val="solid"/>
          </a:ln>
        </p:spPr>
        <p:txBody>
          <a:bodyPr/>
          <a:lstStyle/>
          <a:p>
            <a:endParaRPr lang="en-US"/>
          </a:p>
        </p:txBody>
      </p:sp>
      <p:pic>
        <p:nvPicPr>
          <p:cNvPr id="3" name="Image 0" descr="preencoded.png"/>
          <p:cNvPicPr>
            <a:picLocks noChangeAspect="1"/>
          </p:cNvPicPr>
          <p:nvPr/>
        </p:nvPicPr>
        <p:blipFill>
          <a:blip r:embed="rId4"/>
          <a:stretch>
            <a:fillRect/>
          </a:stretch>
        </p:blipFill>
        <p:spPr>
          <a:xfrm>
            <a:off x="320040" y="201168"/>
            <a:ext cx="594360" cy="594360"/>
          </a:xfrm>
          <a:prstGeom prst="rect">
            <a:avLst/>
          </a:prstGeom>
        </p:spPr>
      </p:pic>
      <p:sp>
        <p:nvSpPr>
          <p:cNvPr id="4" name="Text 1"/>
          <p:cNvSpPr/>
          <p:nvPr/>
        </p:nvSpPr>
        <p:spPr>
          <a:xfrm>
            <a:off x="1051560" y="182880"/>
            <a:ext cx="731520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Technical Stack</a:t>
            </a:r>
            <a:endParaRPr lang="en-US" sz="2800" dirty="0"/>
          </a:p>
        </p:txBody>
      </p:sp>
      <p:sp>
        <p:nvSpPr>
          <p:cNvPr id="5" name="Shape 2"/>
          <p:cNvSpPr/>
          <p:nvPr/>
        </p:nvSpPr>
        <p:spPr>
          <a:xfrm>
            <a:off x="320040" y="1234440"/>
            <a:ext cx="5303520" cy="749808"/>
          </a:xfrm>
          <a:prstGeom prst="rect">
            <a:avLst/>
          </a:prstGeom>
          <a:solidFill>
            <a:srgbClr val="FFFFFF"/>
          </a:solidFill>
          <a:ln w="12700">
            <a:solidFill>
              <a:srgbClr val="E2E8F0"/>
            </a:solidFill>
            <a:prstDash val="solid"/>
          </a:ln>
        </p:spPr>
        <p:txBody>
          <a:bodyPr/>
          <a:lstStyle/>
          <a:p>
            <a:endParaRPr lang="en-US"/>
          </a:p>
        </p:txBody>
      </p:sp>
      <p:sp>
        <p:nvSpPr>
          <p:cNvPr id="6" name="Shape 3"/>
          <p:cNvSpPr/>
          <p:nvPr/>
        </p:nvSpPr>
        <p:spPr>
          <a:xfrm>
            <a:off x="320040" y="1234440"/>
            <a:ext cx="73152" cy="749808"/>
          </a:xfrm>
          <a:prstGeom prst="rect">
            <a:avLst/>
          </a:prstGeom>
          <a:solidFill>
            <a:srgbClr val="0D9488"/>
          </a:solidFill>
          <a:ln w="12700">
            <a:solidFill>
              <a:srgbClr val="0D9488"/>
            </a:solidFill>
            <a:prstDash val="solid"/>
          </a:ln>
        </p:spPr>
        <p:txBody>
          <a:bodyPr/>
          <a:lstStyle/>
          <a:p>
            <a:endParaRPr lang="en-US"/>
          </a:p>
        </p:txBody>
      </p:sp>
      <p:sp>
        <p:nvSpPr>
          <p:cNvPr id="7" name="Text 4"/>
          <p:cNvSpPr/>
          <p:nvPr/>
        </p:nvSpPr>
        <p:spPr>
          <a:xfrm>
            <a:off x="548640" y="1280160"/>
            <a:ext cx="1097280" cy="274320"/>
          </a:xfrm>
          <a:prstGeom prst="rect">
            <a:avLst/>
          </a:prstGeom>
          <a:noFill/>
          <a:ln/>
        </p:spPr>
        <p:txBody>
          <a:bodyPr wrap="square" lIns="0" tIns="0" rIns="0" bIns="0"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FRONTEND</a:t>
            </a:r>
            <a:endParaRPr lang="en-US" sz="1000" dirty="0"/>
          </a:p>
        </p:txBody>
      </p:sp>
      <p:sp>
        <p:nvSpPr>
          <p:cNvPr id="8" name="Text 5"/>
          <p:cNvSpPr/>
          <p:nvPr/>
        </p:nvSpPr>
        <p:spPr>
          <a:xfrm>
            <a:off x="548640" y="1536192"/>
            <a:ext cx="4846320" cy="274320"/>
          </a:xfrm>
          <a:prstGeom prst="rect">
            <a:avLst/>
          </a:prstGeom>
          <a:noFill/>
          <a:ln/>
        </p:spPr>
        <p:txBody>
          <a:bodyPr wrap="square" lIns="0" tIns="0" rIns="0" bIns="0" rtlCol="0" anchor="ctr"/>
          <a:lstStyle/>
          <a:p>
            <a:pPr marL="0" indent="0">
              <a:buNone/>
            </a:pPr>
            <a:r>
              <a:rPr lang="en-US" sz="1400" b="1" dirty="0">
                <a:solidFill>
                  <a:srgbClr val="1A2B4A"/>
                </a:solidFill>
                <a:latin typeface="Calibri" pitchFamily="34" charset="0"/>
                <a:ea typeface="Calibri" pitchFamily="34" charset="-122"/>
                <a:cs typeface="Calibri" pitchFamily="34" charset="-120"/>
              </a:rPr>
              <a:t>Next.js + TypeScript</a:t>
            </a:r>
            <a:endParaRPr lang="en-US" sz="1400" dirty="0"/>
          </a:p>
        </p:txBody>
      </p:sp>
      <p:sp>
        <p:nvSpPr>
          <p:cNvPr id="9" name="Text 6"/>
          <p:cNvSpPr/>
          <p:nvPr/>
        </p:nvSpPr>
        <p:spPr>
          <a:xfrm>
            <a:off x="1737360" y="1280160"/>
            <a:ext cx="3657600" cy="24688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Tailwind CSS, Recharts, Zod validation, drag-and-drop panels</a:t>
            </a:r>
            <a:endParaRPr lang="en-US" sz="1050" dirty="0"/>
          </a:p>
        </p:txBody>
      </p:sp>
      <p:sp>
        <p:nvSpPr>
          <p:cNvPr id="10" name="Shape 7"/>
          <p:cNvSpPr/>
          <p:nvPr/>
        </p:nvSpPr>
        <p:spPr>
          <a:xfrm>
            <a:off x="320040" y="2148840"/>
            <a:ext cx="5303520" cy="749808"/>
          </a:xfrm>
          <a:prstGeom prst="rect">
            <a:avLst/>
          </a:prstGeom>
          <a:solidFill>
            <a:srgbClr val="FFFFFF"/>
          </a:solidFill>
          <a:ln w="12700">
            <a:solidFill>
              <a:srgbClr val="E2E8F0"/>
            </a:solidFill>
            <a:prstDash val="solid"/>
          </a:ln>
        </p:spPr>
        <p:txBody>
          <a:bodyPr/>
          <a:lstStyle/>
          <a:p>
            <a:endParaRPr lang="en-US"/>
          </a:p>
        </p:txBody>
      </p:sp>
      <p:sp>
        <p:nvSpPr>
          <p:cNvPr id="11" name="Shape 8"/>
          <p:cNvSpPr/>
          <p:nvPr/>
        </p:nvSpPr>
        <p:spPr>
          <a:xfrm>
            <a:off x="320040" y="2148840"/>
            <a:ext cx="73152" cy="749808"/>
          </a:xfrm>
          <a:prstGeom prst="rect">
            <a:avLst/>
          </a:prstGeom>
          <a:solidFill>
            <a:srgbClr val="0D9488"/>
          </a:solidFill>
          <a:ln w="12700">
            <a:solidFill>
              <a:srgbClr val="0D9488"/>
            </a:solidFill>
            <a:prstDash val="solid"/>
          </a:ln>
        </p:spPr>
        <p:txBody>
          <a:bodyPr/>
          <a:lstStyle/>
          <a:p>
            <a:endParaRPr lang="en-US"/>
          </a:p>
        </p:txBody>
      </p:sp>
      <p:sp>
        <p:nvSpPr>
          <p:cNvPr id="12" name="Text 9"/>
          <p:cNvSpPr/>
          <p:nvPr/>
        </p:nvSpPr>
        <p:spPr>
          <a:xfrm>
            <a:off x="548640" y="2194560"/>
            <a:ext cx="1097280" cy="274320"/>
          </a:xfrm>
          <a:prstGeom prst="rect">
            <a:avLst/>
          </a:prstGeom>
          <a:noFill/>
          <a:ln/>
        </p:spPr>
        <p:txBody>
          <a:bodyPr wrap="square" lIns="0" tIns="0" rIns="0" bIns="0"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BACKEND</a:t>
            </a:r>
            <a:endParaRPr lang="en-US" sz="1000" dirty="0"/>
          </a:p>
        </p:txBody>
      </p:sp>
      <p:sp>
        <p:nvSpPr>
          <p:cNvPr id="13" name="Text 10"/>
          <p:cNvSpPr/>
          <p:nvPr/>
        </p:nvSpPr>
        <p:spPr>
          <a:xfrm>
            <a:off x="548640" y="2450592"/>
            <a:ext cx="4846320" cy="274320"/>
          </a:xfrm>
          <a:prstGeom prst="rect">
            <a:avLst/>
          </a:prstGeom>
          <a:noFill/>
          <a:ln/>
        </p:spPr>
        <p:txBody>
          <a:bodyPr wrap="square" lIns="0" tIns="0" rIns="0" bIns="0" rtlCol="0" anchor="ctr"/>
          <a:lstStyle/>
          <a:p>
            <a:pPr marL="0" indent="0">
              <a:buNone/>
            </a:pPr>
            <a:r>
              <a:rPr lang="en-US" sz="1400" b="1" dirty="0">
                <a:solidFill>
                  <a:srgbClr val="1A2B4A"/>
                </a:solidFill>
                <a:latin typeface="Calibri" pitchFamily="34" charset="0"/>
                <a:ea typeface="Calibri" pitchFamily="34" charset="-122"/>
                <a:cs typeface="Calibri" pitchFamily="34" charset="-120"/>
              </a:rPr>
              <a:t>FastAPI (Python)</a:t>
            </a:r>
            <a:endParaRPr lang="en-US" sz="1400" dirty="0"/>
          </a:p>
        </p:txBody>
      </p:sp>
      <p:sp>
        <p:nvSpPr>
          <p:cNvPr id="14" name="Text 11"/>
          <p:cNvSpPr/>
          <p:nvPr/>
        </p:nvSpPr>
        <p:spPr>
          <a:xfrm>
            <a:off x="1737360" y="2194560"/>
            <a:ext cx="3657600" cy="24688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Pydantic validation, explainable scoring API at /api/v1/analyze</a:t>
            </a:r>
            <a:endParaRPr lang="en-US" sz="1050" dirty="0"/>
          </a:p>
        </p:txBody>
      </p:sp>
      <p:sp>
        <p:nvSpPr>
          <p:cNvPr id="15" name="Shape 12"/>
          <p:cNvSpPr/>
          <p:nvPr/>
        </p:nvSpPr>
        <p:spPr>
          <a:xfrm>
            <a:off x="320040" y="3063240"/>
            <a:ext cx="5303520" cy="749808"/>
          </a:xfrm>
          <a:prstGeom prst="rect">
            <a:avLst/>
          </a:prstGeom>
          <a:solidFill>
            <a:srgbClr val="FFFFFF"/>
          </a:solidFill>
          <a:ln w="12700">
            <a:solidFill>
              <a:srgbClr val="E2E8F0"/>
            </a:solidFill>
            <a:prstDash val="solid"/>
          </a:ln>
        </p:spPr>
        <p:txBody>
          <a:bodyPr/>
          <a:lstStyle/>
          <a:p>
            <a:endParaRPr lang="en-US"/>
          </a:p>
        </p:txBody>
      </p:sp>
      <p:sp>
        <p:nvSpPr>
          <p:cNvPr id="16" name="Shape 13"/>
          <p:cNvSpPr/>
          <p:nvPr/>
        </p:nvSpPr>
        <p:spPr>
          <a:xfrm>
            <a:off x="320040" y="3063240"/>
            <a:ext cx="73152" cy="749808"/>
          </a:xfrm>
          <a:prstGeom prst="rect">
            <a:avLst/>
          </a:prstGeom>
          <a:solidFill>
            <a:srgbClr val="0D9488"/>
          </a:solidFill>
          <a:ln w="12700">
            <a:solidFill>
              <a:srgbClr val="0D9488"/>
            </a:solidFill>
            <a:prstDash val="solid"/>
          </a:ln>
        </p:spPr>
        <p:txBody>
          <a:bodyPr/>
          <a:lstStyle/>
          <a:p>
            <a:endParaRPr lang="en-US"/>
          </a:p>
        </p:txBody>
      </p:sp>
      <p:sp>
        <p:nvSpPr>
          <p:cNvPr id="17" name="Text 14"/>
          <p:cNvSpPr/>
          <p:nvPr/>
        </p:nvSpPr>
        <p:spPr>
          <a:xfrm>
            <a:off x="548640" y="3108960"/>
            <a:ext cx="1097280" cy="274320"/>
          </a:xfrm>
          <a:prstGeom prst="rect">
            <a:avLst/>
          </a:prstGeom>
          <a:noFill/>
          <a:ln/>
        </p:spPr>
        <p:txBody>
          <a:bodyPr wrap="square" lIns="0" tIns="0" rIns="0" bIns="0"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AUTH &amp; DATA</a:t>
            </a:r>
            <a:endParaRPr lang="en-US" sz="1000" dirty="0"/>
          </a:p>
        </p:txBody>
      </p:sp>
      <p:sp>
        <p:nvSpPr>
          <p:cNvPr id="18" name="Text 15"/>
          <p:cNvSpPr/>
          <p:nvPr/>
        </p:nvSpPr>
        <p:spPr>
          <a:xfrm>
            <a:off x="548640" y="3364992"/>
            <a:ext cx="4846320" cy="274320"/>
          </a:xfrm>
          <a:prstGeom prst="rect">
            <a:avLst/>
          </a:prstGeom>
          <a:noFill/>
          <a:ln/>
        </p:spPr>
        <p:txBody>
          <a:bodyPr wrap="square" lIns="0" tIns="0" rIns="0" bIns="0" rtlCol="0" anchor="ctr"/>
          <a:lstStyle/>
          <a:p>
            <a:pPr marL="0" indent="0">
              <a:buNone/>
            </a:pPr>
            <a:r>
              <a:rPr lang="en-US" sz="1400" b="1" dirty="0">
                <a:solidFill>
                  <a:srgbClr val="1A2B4A"/>
                </a:solidFill>
                <a:latin typeface="Calibri" pitchFamily="34" charset="0"/>
                <a:ea typeface="Calibri" pitchFamily="34" charset="-122"/>
                <a:cs typeface="Calibri" pitchFamily="34" charset="-120"/>
              </a:rPr>
              <a:t>Cookie-Session + PostgreSQL</a:t>
            </a:r>
            <a:endParaRPr lang="en-US" sz="1400" dirty="0"/>
          </a:p>
        </p:txBody>
      </p:sp>
      <p:sp>
        <p:nvSpPr>
          <p:cNvPr id="19" name="Text 16"/>
          <p:cNvSpPr/>
          <p:nvPr/>
        </p:nvSpPr>
        <p:spPr>
          <a:xfrm>
            <a:off x="1737360" y="3108960"/>
            <a:ext cx="3657600" cy="24688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NextAuth.js / Clerk ready; Prisma ORM, SQLite for MVP persistence</a:t>
            </a:r>
            <a:endParaRPr lang="en-US" sz="1050" dirty="0"/>
          </a:p>
        </p:txBody>
      </p:sp>
      <p:sp>
        <p:nvSpPr>
          <p:cNvPr id="20" name="Shape 17"/>
          <p:cNvSpPr/>
          <p:nvPr/>
        </p:nvSpPr>
        <p:spPr>
          <a:xfrm>
            <a:off x="320040" y="3977640"/>
            <a:ext cx="5303520" cy="749808"/>
          </a:xfrm>
          <a:prstGeom prst="rect">
            <a:avLst/>
          </a:prstGeom>
          <a:solidFill>
            <a:srgbClr val="FFFFFF"/>
          </a:solidFill>
          <a:ln w="12700">
            <a:solidFill>
              <a:srgbClr val="E2E8F0"/>
            </a:solidFill>
            <a:prstDash val="solid"/>
          </a:ln>
        </p:spPr>
        <p:txBody>
          <a:bodyPr/>
          <a:lstStyle/>
          <a:p>
            <a:endParaRPr lang="en-US"/>
          </a:p>
        </p:txBody>
      </p:sp>
      <p:sp>
        <p:nvSpPr>
          <p:cNvPr id="21" name="Shape 18"/>
          <p:cNvSpPr/>
          <p:nvPr/>
        </p:nvSpPr>
        <p:spPr>
          <a:xfrm>
            <a:off x="320040" y="3977640"/>
            <a:ext cx="73152" cy="749808"/>
          </a:xfrm>
          <a:prstGeom prst="rect">
            <a:avLst/>
          </a:prstGeom>
          <a:solidFill>
            <a:srgbClr val="0D9488"/>
          </a:solidFill>
          <a:ln w="12700">
            <a:solidFill>
              <a:srgbClr val="0D9488"/>
            </a:solidFill>
            <a:prstDash val="solid"/>
          </a:ln>
        </p:spPr>
        <p:txBody>
          <a:bodyPr/>
          <a:lstStyle/>
          <a:p>
            <a:endParaRPr lang="en-US"/>
          </a:p>
        </p:txBody>
      </p:sp>
      <p:sp>
        <p:nvSpPr>
          <p:cNvPr id="22" name="Text 19"/>
          <p:cNvSpPr/>
          <p:nvPr/>
        </p:nvSpPr>
        <p:spPr>
          <a:xfrm>
            <a:off x="548640" y="4023360"/>
            <a:ext cx="1097280" cy="274320"/>
          </a:xfrm>
          <a:prstGeom prst="rect">
            <a:avLst/>
          </a:prstGeom>
          <a:noFill/>
          <a:ln/>
        </p:spPr>
        <p:txBody>
          <a:bodyPr wrap="square" lIns="0" tIns="0" rIns="0" bIns="0"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ML (UPCOMING)</a:t>
            </a:r>
            <a:endParaRPr lang="en-US" sz="1000" dirty="0"/>
          </a:p>
        </p:txBody>
      </p:sp>
      <p:sp>
        <p:nvSpPr>
          <p:cNvPr id="23" name="Text 20"/>
          <p:cNvSpPr/>
          <p:nvPr/>
        </p:nvSpPr>
        <p:spPr>
          <a:xfrm>
            <a:off x="548640" y="4279392"/>
            <a:ext cx="4846320" cy="274320"/>
          </a:xfrm>
          <a:prstGeom prst="rect">
            <a:avLst/>
          </a:prstGeom>
          <a:noFill/>
          <a:ln/>
        </p:spPr>
        <p:txBody>
          <a:bodyPr wrap="square" lIns="0" tIns="0" rIns="0" bIns="0" rtlCol="0" anchor="ctr"/>
          <a:lstStyle/>
          <a:p>
            <a:pPr marL="0" indent="0">
              <a:buNone/>
            </a:pPr>
            <a:r>
              <a:rPr lang="en-US" sz="1400" b="1" dirty="0">
                <a:solidFill>
                  <a:srgbClr val="1A2B4A"/>
                </a:solidFill>
                <a:latin typeface="Calibri" pitchFamily="34" charset="0"/>
                <a:ea typeface="Calibri" pitchFamily="34" charset="-122"/>
                <a:cs typeface="Calibri" pitchFamily="34" charset="-120"/>
              </a:rPr>
              <a:t>scikit-learn</a:t>
            </a:r>
            <a:endParaRPr lang="en-US" sz="1400" dirty="0"/>
          </a:p>
        </p:txBody>
      </p:sp>
      <p:sp>
        <p:nvSpPr>
          <p:cNvPr id="24" name="Text 21"/>
          <p:cNvSpPr/>
          <p:nvPr/>
        </p:nvSpPr>
        <p:spPr>
          <a:xfrm>
            <a:off x="1737360" y="4023360"/>
            <a:ext cx="3657600" cy="24688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Rules-based engine now; trained model swappable without frontend changes</a:t>
            </a:r>
            <a:endParaRPr lang="en-US" sz="1050" dirty="0"/>
          </a:p>
        </p:txBody>
      </p:sp>
      <p:sp>
        <p:nvSpPr>
          <p:cNvPr id="25" name="Shape 22"/>
          <p:cNvSpPr/>
          <p:nvPr/>
        </p:nvSpPr>
        <p:spPr>
          <a:xfrm>
            <a:off x="5852160" y="1234440"/>
            <a:ext cx="2971800" cy="3291840"/>
          </a:xfrm>
          <a:prstGeom prst="rect">
            <a:avLst/>
          </a:prstGeom>
          <a:solidFill>
            <a:srgbClr val="FFFFFF"/>
          </a:solidFill>
          <a:ln w="12700">
            <a:solidFill>
              <a:srgbClr val="E2E8F0"/>
            </a:solidFill>
            <a:prstDash val="solid"/>
          </a:ln>
        </p:spPr>
        <p:txBody>
          <a:bodyPr/>
          <a:lstStyle/>
          <a:p>
            <a:endParaRPr lang="en-US"/>
          </a:p>
        </p:txBody>
      </p:sp>
      <p:sp>
        <p:nvSpPr>
          <p:cNvPr id="26" name="Text 23"/>
          <p:cNvSpPr/>
          <p:nvPr/>
        </p:nvSpPr>
        <p:spPr>
          <a:xfrm>
            <a:off x="5943600" y="1325880"/>
            <a:ext cx="2743200" cy="347472"/>
          </a:xfrm>
          <a:prstGeom prst="rect">
            <a:avLst/>
          </a:prstGeom>
          <a:noFill/>
          <a:ln/>
        </p:spPr>
        <p:txBody>
          <a:bodyPr wrap="square" lIns="0" tIns="0" rIns="0" bIns="0" rtlCol="0" anchor="ctr"/>
          <a:lstStyle/>
          <a:p>
            <a:pPr marL="0" indent="0" algn="ctr">
              <a:buNone/>
            </a:pPr>
            <a:r>
              <a:rPr lang="en-US" sz="1300" b="1" dirty="0">
                <a:solidFill>
                  <a:srgbClr val="1A2B4A"/>
                </a:solidFill>
                <a:latin typeface="Calibri" pitchFamily="34" charset="0"/>
                <a:ea typeface="Calibri" pitchFamily="34" charset="-122"/>
                <a:cs typeface="Calibri" pitchFamily="34" charset="-120"/>
              </a:rPr>
              <a:t>Architecture</a:t>
            </a:r>
            <a:endParaRPr lang="en-US" sz="1300" dirty="0"/>
          </a:p>
        </p:txBody>
      </p:sp>
      <p:sp>
        <p:nvSpPr>
          <p:cNvPr id="27" name="Shape 24"/>
          <p:cNvSpPr/>
          <p:nvPr/>
        </p:nvSpPr>
        <p:spPr>
          <a:xfrm>
            <a:off x="6035040" y="1783080"/>
            <a:ext cx="2606040" cy="457200"/>
          </a:xfrm>
          <a:prstGeom prst="roundRect">
            <a:avLst>
              <a:gd name="adj" fmla="val 14000"/>
            </a:avLst>
          </a:prstGeom>
          <a:solidFill>
            <a:srgbClr val="0D9488"/>
          </a:solidFill>
          <a:ln w="12700">
            <a:solidFill>
              <a:srgbClr val="0D9488"/>
            </a:solidFill>
            <a:prstDash val="solid"/>
          </a:ln>
        </p:spPr>
        <p:txBody>
          <a:bodyPr/>
          <a:lstStyle/>
          <a:p>
            <a:endParaRPr lang="en-US"/>
          </a:p>
        </p:txBody>
      </p:sp>
      <p:sp>
        <p:nvSpPr>
          <p:cNvPr id="28" name="Text 25"/>
          <p:cNvSpPr/>
          <p:nvPr/>
        </p:nvSpPr>
        <p:spPr>
          <a:xfrm>
            <a:off x="6035040" y="1783080"/>
            <a:ext cx="26060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Next.js + Tailwind (Frontend)</a:t>
            </a:r>
            <a:endParaRPr lang="en-US" sz="1200" dirty="0"/>
          </a:p>
        </p:txBody>
      </p:sp>
      <p:sp>
        <p:nvSpPr>
          <p:cNvPr id="29" name="Shape 26"/>
          <p:cNvSpPr/>
          <p:nvPr/>
        </p:nvSpPr>
        <p:spPr>
          <a:xfrm>
            <a:off x="7338060" y="2240280"/>
            <a:ext cx="0" cy="182880"/>
          </a:xfrm>
          <a:prstGeom prst="line">
            <a:avLst/>
          </a:prstGeom>
          <a:noFill/>
          <a:ln w="19050">
            <a:solidFill>
              <a:srgbClr val="E2E8F0"/>
            </a:solidFill>
            <a:prstDash val="solid"/>
          </a:ln>
        </p:spPr>
        <p:txBody>
          <a:bodyPr/>
          <a:lstStyle/>
          <a:p>
            <a:endParaRPr lang="en-US"/>
          </a:p>
        </p:txBody>
      </p:sp>
      <p:sp>
        <p:nvSpPr>
          <p:cNvPr id="30" name="Shape 27"/>
          <p:cNvSpPr/>
          <p:nvPr/>
        </p:nvSpPr>
        <p:spPr>
          <a:xfrm>
            <a:off x="6035040" y="2468880"/>
            <a:ext cx="2606040" cy="457200"/>
          </a:xfrm>
          <a:prstGeom prst="roundRect">
            <a:avLst>
              <a:gd name="adj" fmla="val 14000"/>
            </a:avLst>
          </a:prstGeom>
          <a:solidFill>
            <a:srgbClr val="14B8A6"/>
          </a:solidFill>
          <a:ln w="12700">
            <a:solidFill>
              <a:srgbClr val="14B8A6"/>
            </a:solidFill>
            <a:prstDash val="solid"/>
          </a:ln>
        </p:spPr>
        <p:txBody>
          <a:bodyPr/>
          <a:lstStyle/>
          <a:p>
            <a:endParaRPr lang="en-US"/>
          </a:p>
        </p:txBody>
      </p:sp>
      <p:sp>
        <p:nvSpPr>
          <p:cNvPr id="31" name="Text 28"/>
          <p:cNvSpPr/>
          <p:nvPr/>
        </p:nvSpPr>
        <p:spPr>
          <a:xfrm>
            <a:off x="6035040" y="2468880"/>
            <a:ext cx="26060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FastAPI + Pydantic (Backend)</a:t>
            </a:r>
            <a:endParaRPr lang="en-US" sz="1200" dirty="0"/>
          </a:p>
        </p:txBody>
      </p:sp>
      <p:sp>
        <p:nvSpPr>
          <p:cNvPr id="32" name="Shape 29"/>
          <p:cNvSpPr/>
          <p:nvPr/>
        </p:nvSpPr>
        <p:spPr>
          <a:xfrm>
            <a:off x="7338060" y="2926080"/>
            <a:ext cx="0" cy="182880"/>
          </a:xfrm>
          <a:prstGeom prst="line">
            <a:avLst/>
          </a:prstGeom>
          <a:noFill/>
          <a:ln w="19050">
            <a:solidFill>
              <a:srgbClr val="E2E8F0"/>
            </a:solidFill>
            <a:prstDash val="solid"/>
          </a:ln>
        </p:spPr>
        <p:txBody>
          <a:bodyPr/>
          <a:lstStyle/>
          <a:p>
            <a:endParaRPr lang="en-US"/>
          </a:p>
        </p:txBody>
      </p:sp>
      <p:sp>
        <p:nvSpPr>
          <p:cNvPr id="33" name="Shape 30"/>
          <p:cNvSpPr/>
          <p:nvPr/>
        </p:nvSpPr>
        <p:spPr>
          <a:xfrm>
            <a:off x="6035040" y="3154680"/>
            <a:ext cx="2606040" cy="457200"/>
          </a:xfrm>
          <a:prstGeom prst="roundRect">
            <a:avLst>
              <a:gd name="adj" fmla="val 14000"/>
            </a:avLst>
          </a:prstGeom>
          <a:solidFill>
            <a:srgbClr val="1A2B4A"/>
          </a:solidFill>
          <a:ln w="12700">
            <a:solidFill>
              <a:srgbClr val="1A2B4A"/>
            </a:solidFill>
            <a:prstDash val="solid"/>
          </a:ln>
        </p:spPr>
        <p:txBody>
          <a:bodyPr/>
          <a:lstStyle/>
          <a:p>
            <a:endParaRPr lang="en-US"/>
          </a:p>
        </p:txBody>
      </p:sp>
      <p:sp>
        <p:nvSpPr>
          <p:cNvPr id="34" name="Text 31"/>
          <p:cNvSpPr/>
          <p:nvPr/>
        </p:nvSpPr>
        <p:spPr>
          <a:xfrm>
            <a:off x="6035040" y="3154680"/>
            <a:ext cx="26060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Explainable Scoring Engine</a:t>
            </a:r>
            <a:endParaRPr lang="en-US" sz="1200" dirty="0"/>
          </a:p>
        </p:txBody>
      </p:sp>
      <p:sp>
        <p:nvSpPr>
          <p:cNvPr id="35" name="Shape 32"/>
          <p:cNvSpPr/>
          <p:nvPr/>
        </p:nvSpPr>
        <p:spPr>
          <a:xfrm>
            <a:off x="7338060" y="3611880"/>
            <a:ext cx="0" cy="182880"/>
          </a:xfrm>
          <a:prstGeom prst="line">
            <a:avLst/>
          </a:prstGeom>
          <a:noFill/>
          <a:ln w="19050">
            <a:solidFill>
              <a:srgbClr val="E2E8F0"/>
            </a:solidFill>
            <a:prstDash val="solid"/>
          </a:ln>
        </p:spPr>
        <p:txBody>
          <a:bodyPr/>
          <a:lstStyle/>
          <a:p>
            <a:endParaRPr lang="en-US"/>
          </a:p>
        </p:txBody>
      </p:sp>
      <p:sp>
        <p:nvSpPr>
          <p:cNvPr id="36" name="Shape 33"/>
          <p:cNvSpPr/>
          <p:nvPr/>
        </p:nvSpPr>
        <p:spPr>
          <a:xfrm>
            <a:off x="6035040" y="3840480"/>
            <a:ext cx="2606040" cy="457200"/>
          </a:xfrm>
          <a:prstGeom prst="roundRect">
            <a:avLst>
              <a:gd name="adj" fmla="val 14000"/>
            </a:avLst>
          </a:prstGeom>
          <a:solidFill>
            <a:srgbClr val="64748B"/>
          </a:solidFill>
          <a:ln w="12700">
            <a:solidFill>
              <a:srgbClr val="64748B"/>
            </a:solidFill>
            <a:prstDash val="solid"/>
          </a:ln>
        </p:spPr>
        <p:txBody>
          <a:bodyPr/>
          <a:lstStyle/>
          <a:p>
            <a:endParaRPr lang="en-US"/>
          </a:p>
        </p:txBody>
      </p:sp>
      <p:sp>
        <p:nvSpPr>
          <p:cNvPr id="37" name="Text 34"/>
          <p:cNvSpPr/>
          <p:nvPr/>
        </p:nvSpPr>
        <p:spPr>
          <a:xfrm>
            <a:off x="6035040" y="3840480"/>
            <a:ext cx="26060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scikit-learn ML (Upcoming)</a:t>
            </a:r>
            <a:endParaRPr lang="en-US" sz="1200" dirty="0"/>
          </a:p>
        </p:txBody>
      </p:sp>
    </p:spTree>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2B4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9488"/>
          </a:solidFill>
          <a:ln w="12700">
            <a:solidFill>
              <a:srgbClr val="0D9488"/>
            </a:solidFill>
            <a:prstDash val="solid"/>
          </a:ln>
        </p:spPr>
        <p:txBody>
          <a:bodyPr/>
          <a:lstStyle/>
          <a:p>
            <a:endParaRPr lang="en-US"/>
          </a:p>
        </p:txBody>
      </p:sp>
      <p:pic>
        <p:nvPicPr>
          <p:cNvPr id="3" name="Image 0" descr="preencoded.png"/>
          <p:cNvPicPr>
            <a:picLocks noChangeAspect="1"/>
          </p:cNvPicPr>
          <p:nvPr/>
        </p:nvPicPr>
        <p:blipFill>
          <a:blip r:embed="rId4"/>
          <a:stretch>
            <a:fillRect/>
          </a:stretch>
        </p:blipFill>
        <p:spPr>
          <a:xfrm>
            <a:off x="320040" y="201168"/>
            <a:ext cx="594360" cy="594360"/>
          </a:xfrm>
          <a:prstGeom prst="rect">
            <a:avLst/>
          </a:prstGeom>
        </p:spPr>
      </p:pic>
      <p:sp>
        <p:nvSpPr>
          <p:cNvPr id="4" name="Text 1"/>
          <p:cNvSpPr/>
          <p:nvPr/>
        </p:nvSpPr>
        <p:spPr>
          <a:xfrm>
            <a:off x="1051560" y="182880"/>
            <a:ext cx="731520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Impact &amp; Value</a:t>
            </a:r>
            <a:endParaRPr lang="en-US" sz="2800" dirty="0"/>
          </a:p>
        </p:txBody>
      </p:sp>
      <p:sp>
        <p:nvSpPr>
          <p:cNvPr id="5" name="Shape 2"/>
          <p:cNvSpPr/>
          <p:nvPr/>
        </p:nvSpPr>
        <p:spPr>
          <a:xfrm>
            <a:off x="320040" y="1143000"/>
            <a:ext cx="8503920" cy="731520"/>
          </a:xfrm>
          <a:prstGeom prst="rect">
            <a:avLst/>
          </a:prstGeom>
          <a:solidFill>
            <a:srgbClr val="1E3A5F"/>
          </a:solidFill>
          <a:ln w="12700">
            <a:solidFill>
              <a:srgbClr val="0D9488"/>
            </a:solidFill>
            <a:prstDash val="solid"/>
          </a:ln>
        </p:spPr>
        <p:txBody>
          <a:bodyPr/>
          <a:lstStyle/>
          <a:p>
            <a:endParaRPr lang="en-US"/>
          </a:p>
        </p:txBody>
      </p:sp>
      <p:sp>
        <p:nvSpPr>
          <p:cNvPr id="6" name="Text 3"/>
          <p:cNvSpPr/>
          <p:nvPr/>
        </p:nvSpPr>
        <p:spPr>
          <a:xfrm>
            <a:off x="457200" y="1143000"/>
            <a:ext cx="8321040" cy="731520"/>
          </a:xfrm>
          <a:prstGeom prst="rect">
            <a:avLst/>
          </a:prstGeom>
          <a:noFill/>
          <a:ln/>
        </p:spPr>
        <p:txBody>
          <a:bodyPr wrap="square" lIns="0" tIns="0" rIns="0" bIns="0" rtlCol="0" anchor="ctr"/>
          <a:lstStyle/>
          <a:p>
            <a:pPr marL="0" indent="0">
              <a:buNone/>
            </a:pPr>
            <a:r>
              <a:rPr lang="en-US" sz="1500" b="1" dirty="0">
                <a:solidFill>
                  <a:srgbClr val="EF4444"/>
                </a:solidFill>
                <a:latin typeface="Calibri" pitchFamily="34" charset="0"/>
                <a:ea typeface="Calibri" pitchFamily="34" charset="-122"/>
                <a:cs typeface="Calibri" pitchFamily="34" charset="-120"/>
              </a:rPr>
              <a:t>Reactive </a:t>
            </a:r>
            <a:r>
              <a:rPr lang="en-US" sz="1500" b="1" dirty="0">
                <a:solidFill>
                  <a:srgbClr val="64748B"/>
                </a:solidFill>
                <a:latin typeface="Calibri" pitchFamily="34" charset="0"/>
                <a:ea typeface="Calibri" pitchFamily="34" charset="-122"/>
                <a:cs typeface="Calibri" pitchFamily="34" charset="-120"/>
              </a:rPr>
              <a:t>→  </a:t>
            </a:r>
            <a:r>
              <a:rPr lang="en-US" sz="1500" b="1" dirty="0">
                <a:solidFill>
                  <a:srgbClr val="22C55E"/>
                </a:solidFill>
                <a:latin typeface="Calibri" pitchFamily="34" charset="0"/>
                <a:ea typeface="Calibri" pitchFamily="34" charset="-122"/>
                <a:cs typeface="Calibri" pitchFamily="34" charset="-120"/>
              </a:rPr>
              <a:t>Preventive</a:t>
            </a:r>
            <a:r>
              <a:rPr lang="en-US" sz="1500" dirty="0">
                <a:solidFill>
                  <a:srgbClr val="B0D4D0"/>
                </a:solidFill>
                <a:latin typeface="Calibri" pitchFamily="34" charset="0"/>
                <a:ea typeface="Calibri" pitchFamily="34" charset="-122"/>
                <a:cs typeface="Calibri" pitchFamily="34" charset="-120"/>
              </a:rPr>
              <a:t>   |   Burnout Sentinel shifts support from after-the-fact to early intervention.</a:t>
            </a:r>
            <a:endParaRPr lang="en-US" sz="1500" dirty="0"/>
          </a:p>
        </p:txBody>
      </p:sp>
      <p:sp>
        <p:nvSpPr>
          <p:cNvPr id="7" name="Shape 4"/>
          <p:cNvSpPr/>
          <p:nvPr/>
        </p:nvSpPr>
        <p:spPr>
          <a:xfrm>
            <a:off x="320040" y="2103120"/>
            <a:ext cx="2697480" cy="2560320"/>
          </a:xfrm>
          <a:prstGeom prst="rect">
            <a:avLst/>
          </a:prstGeom>
          <a:solidFill>
            <a:srgbClr val="1E3A5F"/>
          </a:solidFill>
          <a:ln w="12700">
            <a:solidFill>
              <a:srgbClr val="2D5A7E"/>
            </a:solidFill>
            <a:prstDash val="solid"/>
          </a:ln>
        </p:spPr>
        <p:txBody>
          <a:bodyPr/>
          <a:lstStyle/>
          <a:p>
            <a:endParaRPr lang="en-US"/>
          </a:p>
        </p:txBody>
      </p:sp>
      <p:sp>
        <p:nvSpPr>
          <p:cNvPr id="8" name="Shape 5"/>
          <p:cNvSpPr/>
          <p:nvPr/>
        </p:nvSpPr>
        <p:spPr>
          <a:xfrm>
            <a:off x="1234440" y="2240280"/>
            <a:ext cx="868680" cy="868680"/>
          </a:xfrm>
          <a:prstGeom prst="ellipse">
            <a:avLst/>
          </a:prstGeom>
          <a:solidFill>
            <a:srgbClr val="0D9488">
              <a:alpha val="80000"/>
            </a:srgbClr>
          </a:solidFill>
          <a:ln w="12700">
            <a:solidFill>
              <a:srgbClr val="0D9488"/>
            </a:solidFill>
            <a:prstDash val="solid"/>
          </a:ln>
        </p:spPr>
        <p:txBody>
          <a:bodyPr/>
          <a:lstStyle/>
          <a:p>
            <a:endParaRPr lang="en-US"/>
          </a:p>
        </p:txBody>
      </p:sp>
      <p:sp>
        <p:nvSpPr>
          <p:cNvPr id="9" name="Text 6"/>
          <p:cNvSpPr/>
          <p:nvPr/>
        </p:nvSpPr>
        <p:spPr>
          <a:xfrm>
            <a:off x="1234440" y="2240280"/>
            <a:ext cx="868680" cy="86868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0" name="Text 7"/>
          <p:cNvSpPr/>
          <p:nvPr/>
        </p:nvSpPr>
        <p:spPr>
          <a:xfrm>
            <a:off x="411480" y="3246120"/>
            <a:ext cx="2514600" cy="411480"/>
          </a:xfrm>
          <a:prstGeom prst="rect">
            <a:avLst/>
          </a:prstGeom>
          <a:noFill/>
          <a:ln/>
        </p:spPr>
        <p:txBody>
          <a:bodyPr wrap="square" lIns="0" tIns="0" rIns="0" bIns="0" rtlCol="0" anchor="ctr"/>
          <a:lstStyle/>
          <a:p>
            <a:pPr marL="0" indent="0" algn="ctr">
              <a:buNone/>
            </a:pPr>
            <a:r>
              <a:rPr lang="en-US" sz="1400" b="1" dirty="0">
                <a:solidFill>
                  <a:srgbClr val="0D9488"/>
                </a:solidFill>
                <a:latin typeface="Calibri" pitchFamily="34" charset="0"/>
                <a:ea typeface="Calibri" pitchFamily="34" charset="-122"/>
                <a:cs typeface="Calibri" pitchFamily="34" charset="-120"/>
              </a:rPr>
              <a:t>Early Detection</a:t>
            </a:r>
            <a:endParaRPr lang="en-US" sz="1400" dirty="0"/>
          </a:p>
        </p:txBody>
      </p:sp>
      <p:sp>
        <p:nvSpPr>
          <p:cNvPr id="11" name="Text 8"/>
          <p:cNvSpPr/>
          <p:nvPr/>
        </p:nvSpPr>
        <p:spPr>
          <a:xfrm>
            <a:off x="411480" y="3749040"/>
            <a:ext cx="2514600" cy="777240"/>
          </a:xfrm>
          <a:prstGeom prst="rect">
            <a:avLst/>
          </a:prstGeom>
          <a:noFill/>
          <a:ln/>
        </p:spPr>
        <p:txBody>
          <a:bodyPr wrap="square" lIns="0" tIns="0" rIns="0" bIns="0" rtlCol="0" anchor="ctr"/>
          <a:lstStyle/>
          <a:p>
            <a:pPr marL="0" indent="0" algn="ctr">
              <a:buNone/>
            </a:pPr>
            <a:r>
              <a:rPr lang="en-US" sz="1150" dirty="0">
                <a:solidFill>
                  <a:srgbClr val="A0C4C1"/>
                </a:solidFill>
                <a:latin typeface="Calibri" pitchFamily="34" charset="0"/>
                <a:ea typeface="Calibri" pitchFamily="34" charset="-122"/>
                <a:cs typeface="Calibri" pitchFamily="34" charset="-120"/>
              </a:rPr>
              <a:t>Students get risk signals during planning, not after symptoms appear.</a:t>
            </a:r>
            <a:endParaRPr lang="en-US" sz="1150" dirty="0"/>
          </a:p>
        </p:txBody>
      </p:sp>
      <p:sp>
        <p:nvSpPr>
          <p:cNvPr id="12" name="Shape 9"/>
          <p:cNvSpPr/>
          <p:nvPr/>
        </p:nvSpPr>
        <p:spPr>
          <a:xfrm>
            <a:off x="3200400" y="2103120"/>
            <a:ext cx="2697480" cy="2560320"/>
          </a:xfrm>
          <a:prstGeom prst="rect">
            <a:avLst/>
          </a:prstGeom>
          <a:solidFill>
            <a:srgbClr val="1E3A5F"/>
          </a:solidFill>
          <a:ln w="12700">
            <a:solidFill>
              <a:srgbClr val="2D5A7E"/>
            </a:solidFill>
            <a:prstDash val="solid"/>
          </a:ln>
        </p:spPr>
        <p:txBody>
          <a:bodyPr/>
          <a:lstStyle/>
          <a:p>
            <a:endParaRPr lang="en-US"/>
          </a:p>
        </p:txBody>
      </p:sp>
      <p:sp>
        <p:nvSpPr>
          <p:cNvPr id="13" name="Shape 10"/>
          <p:cNvSpPr/>
          <p:nvPr/>
        </p:nvSpPr>
        <p:spPr>
          <a:xfrm>
            <a:off x="4114800" y="2240280"/>
            <a:ext cx="868680" cy="868680"/>
          </a:xfrm>
          <a:prstGeom prst="ellipse">
            <a:avLst/>
          </a:prstGeom>
          <a:solidFill>
            <a:srgbClr val="14B8A6">
              <a:alpha val="80000"/>
            </a:srgbClr>
          </a:solidFill>
          <a:ln w="12700">
            <a:solidFill>
              <a:srgbClr val="14B8A6"/>
            </a:solidFill>
            <a:prstDash val="solid"/>
          </a:ln>
        </p:spPr>
        <p:txBody>
          <a:bodyPr/>
          <a:lstStyle/>
          <a:p>
            <a:endParaRPr lang="en-US"/>
          </a:p>
        </p:txBody>
      </p:sp>
      <p:sp>
        <p:nvSpPr>
          <p:cNvPr id="14" name="Text 11"/>
          <p:cNvSpPr/>
          <p:nvPr/>
        </p:nvSpPr>
        <p:spPr>
          <a:xfrm>
            <a:off x="4114800" y="2240280"/>
            <a:ext cx="868680" cy="86868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5" name="Text 12"/>
          <p:cNvSpPr/>
          <p:nvPr/>
        </p:nvSpPr>
        <p:spPr>
          <a:xfrm>
            <a:off x="3291840" y="3246120"/>
            <a:ext cx="2514600" cy="411480"/>
          </a:xfrm>
          <a:prstGeom prst="rect">
            <a:avLst/>
          </a:prstGeom>
          <a:noFill/>
          <a:ln/>
        </p:spPr>
        <p:txBody>
          <a:bodyPr wrap="square" lIns="0" tIns="0" rIns="0" bIns="0" rtlCol="0" anchor="ctr"/>
          <a:lstStyle/>
          <a:p>
            <a:pPr marL="0" indent="0" algn="ctr">
              <a:buNone/>
            </a:pPr>
            <a:r>
              <a:rPr lang="en-US" sz="1400" b="1" dirty="0">
                <a:solidFill>
                  <a:srgbClr val="14B8A6"/>
                </a:solidFill>
                <a:latin typeface="Calibri" pitchFamily="34" charset="0"/>
                <a:ea typeface="Calibri" pitchFamily="34" charset="-122"/>
                <a:cs typeface="Calibri" pitchFamily="34" charset="-120"/>
              </a:rPr>
              <a:t>Better Decisions</a:t>
            </a:r>
            <a:endParaRPr lang="en-US" sz="1400" dirty="0"/>
          </a:p>
        </p:txBody>
      </p:sp>
      <p:sp>
        <p:nvSpPr>
          <p:cNvPr id="16" name="Text 13"/>
          <p:cNvSpPr/>
          <p:nvPr/>
        </p:nvSpPr>
        <p:spPr>
          <a:xfrm>
            <a:off x="3291840" y="3749040"/>
            <a:ext cx="2514600" cy="777240"/>
          </a:xfrm>
          <a:prstGeom prst="rect">
            <a:avLst/>
          </a:prstGeom>
          <a:noFill/>
          <a:ln/>
        </p:spPr>
        <p:txBody>
          <a:bodyPr wrap="square" lIns="0" tIns="0" rIns="0" bIns="0" rtlCol="0" anchor="ctr"/>
          <a:lstStyle/>
          <a:p>
            <a:pPr marL="0" indent="0" algn="ctr">
              <a:buNone/>
            </a:pPr>
            <a:r>
              <a:rPr lang="en-US" sz="1150" dirty="0">
                <a:solidFill>
                  <a:srgbClr val="A0C4C1"/>
                </a:solidFill>
                <a:latin typeface="Calibri" pitchFamily="34" charset="0"/>
                <a:ea typeface="Calibri" pitchFamily="34" charset="-122"/>
                <a:cs typeface="Calibri" pitchFamily="34" charset="-120"/>
              </a:rPr>
              <a:t>What-if tools help students rebalance before committing to an overloaded week.</a:t>
            </a:r>
            <a:endParaRPr lang="en-US" sz="1150" dirty="0"/>
          </a:p>
        </p:txBody>
      </p:sp>
      <p:sp>
        <p:nvSpPr>
          <p:cNvPr id="17" name="Shape 14"/>
          <p:cNvSpPr/>
          <p:nvPr/>
        </p:nvSpPr>
        <p:spPr>
          <a:xfrm>
            <a:off x="6080760" y="2103120"/>
            <a:ext cx="2697480" cy="2560320"/>
          </a:xfrm>
          <a:prstGeom prst="rect">
            <a:avLst/>
          </a:prstGeom>
          <a:solidFill>
            <a:srgbClr val="1E3A5F"/>
          </a:solidFill>
          <a:ln w="12700">
            <a:solidFill>
              <a:srgbClr val="2D5A7E"/>
            </a:solidFill>
            <a:prstDash val="solid"/>
          </a:ln>
        </p:spPr>
        <p:txBody>
          <a:bodyPr/>
          <a:lstStyle/>
          <a:p>
            <a:endParaRPr lang="en-US"/>
          </a:p>
        </p:txBody>
      </p:sp>
      <p:sp>
        <p:nvSpPr>
          <p:cNvPr id="18" name="Shape 15"/>
          <p:cNvSpPr/>
          <p:nvPr/>
        </p:nvSpPr>
        <p:spPr>
          <a:xfrm>
            <a:off x="6995160" y="2240280"/>
            <a:ext cx="868680" cy="868680"/>
          </a:xfrm>
          <a:prstGeom prst="ellipse">
            <a:avLst/>
          </a:prstGeom>
          <a:solidFill>
            <a:srgbClr val="F59E0B">
              <a:alpha val="80000"/>
            </a:srgbClr>
          </a:solidFill>
          <a:ln w="12700">
            <a:solidFill>
              <a:srgbClr val="F59E0B"/>
            </a:solidFill>
            <a:prstDash val="solid"/>
          </a:ln>
        </p:spPr>
        <p:txBody>
          <a:bodyPr/>
          <a:lstStyle/>
          <a:p>
            <a:endParaRPr lang="en-US"/>
          </a:p>
        </p:txBody>
      </p:sp>
      <p:sp>
        <p:nvSpPr>
          <p:cNvPr id="19" name="Text 16"/>
          <p:cNvSpPr/>
          <p:nvPr/>
        </p:nvSpPr>
        <p:spPr>
          <a:xfrm>
            <a:off x="6995160" y="2240280"/>
            <a:ext cx="868680" cy="86868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0" name="Text 17"/>
          <p:cNvSpPr/>
          <p:nvPr/>
        </p:nvSpPr>
        <p:spPr>
          <a:xfrm>
            <a:off x="6172200" y="3246120"/>
            <a:ext cx="2514600" cy="411480"/>
          </a:xfrm>
          <a:prstGeom prst="rect">
            <a:avLst/>
          </a:prstGeom>
          <a:noFill/>
          <a:ln/>
        </p:spPr>
        <p:txBody>
          <a:bodyPr wrap="square" lIns="0" tIns="0" rIns="0" bIns="0" rtlCol="0" anchor="ctr"/>
          <a:lstStyle/>
          <a:p>
            <a:pPr marL="0" indent="0" algn="ctr">
              <a:buNone/>
            </a:pPr>
            <a:r>
              <a:rPr lang="en-US" sz="1400" b="1" dirty="0">
                <a:solidFill>
                  <a:srgbClr val="F59E0B"/>
                </a:solidFill>
                <a:latin typeface="Calibri" pitchFamily="34" charset="0"/>
                <a:ea typeface="Calibri" pitchFamily="34" charset="-122"/>
                <a:cs typeface="Calibri" pitchFamily="34" charset="-120"/>
              </a:rPr>
              <a:t>Academic Sustainability</a:t>
            </a:r>
            <a:endParaRPr lang="en-US" sz="1400" dirty="0"/>
          </a:p>
        </p:txBody>
      </p:sp>
      <p:sp>
        <p:nvSpPr>
          <p:cNvPr id="21" name="Text 18"/>
          <p:cNvSpPr/>
          <p:nvPr/>
        </p:nvSpPr>
        <p:spPr>
          <a:xfrm>
            <a:off x="6172200" y="3749040"/>
            <a:ext cx="2514600" cy="777240"/>
          </a:xfrm>
          <a:prstGeom prst="rect">
            <a:avLst/>
          </a:prstGeom>
          <a:noFill/>
          <a:ln/>
        </p:spPr>
        <p:txBody>
          <a:bodyPr wrap="square" lIns="0" tIns="0" rIns="0" bIns="0" rtlCol="0" anchor="ctr"/>
          <a:lstStyle/>
          <a:p>
            <a:pPr marL="0" indent="0" algn="ctr">
              <a:buNone/>
            </a:pPr>
            <a:r>
              <a:rPr lang="en-US" sz="1150" dirty="0">
                <a:solidFill>
                  <a:srgbClr val="A0C4C1"/>
                </a:solidFill>
                <a:latin typeface="Calibri" pitchFamily="34" charset="0"/>
                <a:ea typeface="Calibri" pitchFamily="34" charset="-122"/>
                <a:cs typeface="Calibri" pitchFamily="34" charset="-120"/>
              </a:rPr>
              <a:t>Long-term goal: reduce burnout-driven dropout and performance decline.</a:t>
            </a:r>
            <a:endParaRPr lang="en-US" sz="1150" dirty="0"/>
          </a:p>
        </p:txBody>
      </p:sp>
    </p:spTree>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9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B4A"/>
          </a:solidFill>
          <a:ln w="12700">
            <a:solidFill>
              <a:srgbClr val="1A2B4A"/>
            </a:solidFill>
            <a:prstDash val="solid"/>
          </a:ln>
        </p:spPr>
        <p:txBody>
          <a:bodyPr/>
          <a:lstStyle/>
          <a:p>
            <a:endParaRPr lang="en-US"/>
          </a:p>
        </p:txBody>
      </p:sp>
      <p:pic>
        <p:nvPicPr>
          <p:cNvPr id="3" name="Image 0" descr="preencoded.png"/>
          <p:cNvPicPr>
            <a:picLocks noChangeAspect="1"/>
          </p:cNvPicPr>
          <p:nvPr/>
        </p:nvPicPr>
        <p:blipFill>
          <a:blip r:embed="rId4"/>
          <a:stretch>
            <a:fillRect/>
          </a:stretch>
        </p:blipFill>
        <p:spPr>
          <a:xfrm>
            <a:off x="320040" y="201168"/>
            <a:ext cx="594360" cy="594360"/>
          </a:xfrm>
          <a:prstGeom prst="rect">
            <a:avLst/>
          </a:prstGeom>
        </p:spPr>
      </p:pic>
      <p:sp>
        <p:nvSpPr>
          <p:cNvPr id="4" name="Text 1"/>
          <p:cNvSpPr/>
          <p:nvPr/>
        </p:nvSpPr>
        <p:spPr>
          <a:xfrm>
            <a:off x="1051560" y="182880"/>
            <a:ext cx="731520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Future Work</a:t>
            </a:r>
            <a:endParaRPr lang="en-US" sz="2800" dirty="0"/>
          </a:p>
        </p:txBody>
      </p:sp>
      <p:sp>
        <p:nvSpPr>
          <p:cNvPr id="5" name="Shape 2"/>
          <p:cNvSpPr/>
          <p:nvPr/>
        </p:nvSpPr>
        <p:spPr>
          <a:xfrm>
            <a:off x="320040" y="1234440"/>
            <a:ext cx="8503920" cy="804672"/>
          </a:xfrm>
          <a:prstGeom prst="rect">
            <a:avLst/>
          </a:prstGeom>
          <a:solidFill>
            <a:srgbClr val="FFFFFF"/>
          </a:solidFill>
          <a:ln w="1270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sp>
        <p:nvSpPr>
          <p:cNvPr id="6" name="Shape 3"/>
          <p:cNvSpPr/>
          <p:nvPr/>
        </p:nvSpPr>
        <p:spPr>
          <a:xfrm>
            <a:off x="320040" y="1234440"/>
            <a:ext cx="1005840" cy="804672"/>
          </a:xfrm>
          <a:prstGeom prst="rect">
            <a:avLst/>
          </a:prstGeom>
          <a:solidFill>
            <a:srgbClr val="0D9488"/>
          </a:solidFill>
          <a:ln w="12700">
            <a:solidFill>
              <a:srgbClr val="0D9488"/>
            </a:solidFill>
            <a:prstDash val="solid"/>
          </a:ln>
        </p:spPr>
        <p:txBody>
          <a:bodyPr/>
          <a:lstStyle/>
          <a:p>
            <a:endParaRPr lang="en-US"/>
          </a:p>
        </p:txBody>
      </p:sp>
      <p:sp>
        <p:nvSpPr>
          <p:cNvPr id="7" name="Text 4"/>
          <p:cNvSpPr/>
          <p:nvPr/>
        </p:nvSpPr>
        <p:spPr>
          <a:xfrm>
            <a:off x="320040" y="1234440"/>
            <a:ext cx="1005840" cy="8046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Next</a:t>
            </a:r>
            <a:endParaRPr lang="en-US" sz="1200" dirty="0"/>
          </a:p>
        </p:txBody>
      </p:sp>
      <p:sp>
        <p:nvSpPr>
          <p:cNvPr id="8" name="Text 5"/>
          <p:cNvSpPr/>
          <p:nvPr/>
        </p:nvSpPr>
        <p:spPr>
          <a:xfrm>
            <a:off x="1463040" y="1280160"/>
            <a:ext cx="2743200" cy="347472"/>
          </a:xfrm>
          <a:prstGeom prst="rect">
            <a:avLst/>
          </a:prstGeom>
          <a:noFill/>
          <a:ln/>
        </p:spPr>
        <p:txBody>
          <a:bodyPr wrap="square" lIns="0" tIns="0" rIns="0" bIns="0" rtlCol="0" anchor="ctr"/>
          <a:lstStyle/>
          <a:p>
            <a:pPr marL="0" indent="0">
              <a:buNone/>
            </a:pPr>
            <a:r>
              <a:rPr lang="en-US" sz="1400" b="1" dirty="0">
                <a:solidFill>
                  <a:srgbClr val="1A2B4A"/>
                </a:solidFill>
                <a:latin typeface="Calibri" pitchFamily="34" charset="0"/>
                <a:ea typeface="Calibri" pitchFamily="34" charset="-122"/>
                <a:cs typeface="Calibri" pitchFamily="34" charset="-120"/>
              </a:rPr>
              <a:t>🤖  Replace Scoring with ML</a:t>
            </a:r>
            <a:endParaRPr lang="en-US" sz="1400" dirty="0"/>
          </a:p>
        </p:txBody>
      </p:sp>
      <p:sp>
        <p:nvSpPr>
          <p:cNvPr id="9" name="Text 6"/>
          <p:cNvSpPr/>
          <p:nvPr/>
        </p:nvSpPr>
        <p:spPr>
          <a:xfrm>
            <a:off x="1463040" y="1618488"/>
            <a:ext cx="7223760" cy="32004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Swap rules-based engine with a trained scikit-learn model once pilot data is collected</a:t>
            </a:r>
            <a:endParaRPr lang="en-US" sz="1200" dirty="0"/>
          </a:p>
        </p:txBody>
      </p:sp>
      <p:sp>
        <p:nvSpPr>
          <p:cNvPr id="10" name="Shape 7"/>
          <p:cNvSpPr/>
          <p:nvPr/>
        </p:nvSpPr>
        <p:spPr>
          <a:xfrm>
            <a:off x="320040" y="2194560"/>
            <a:ext cx="8503920" cy="804672"/>
          </a:xfrm>
          <a:prstGeom prst="rect">
            <a:avLst/>
          </a:prstGeom>
          <a:solidFill>
            <a:srgbClr val="FFFFFF"/>
          </a:solidFill>
          <a:ln w="1270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sp>
        <p:nvSpPr>
          <p:cNvPr id="11" name="Shape 8"/>
          <p:cNvSpPr/>
          <p:nvPr/>
        </p:nvSpPr>
        <p:spPr>
          <a:xfrm>
            <a:off x="320040" y="2194560"/>
            <a:ext cx="1005840" cy="804672"/>
          </a:xfrm>
          <a:prstGeom prst="rect">
            <a:avLst/>
          </a:prstGeom>
          <a:solidFill>
            <a:srgbClr val="14B8A6"/>
          </a:solidFill>
          <a:ln w="12700">
            <a:solidFill>
              <a:srgbClr val="14B8A6"/>
            </a:solidFill>
            <a:prstDash val="solid"/>
          </a:ln>
        </p:spPr>
        <p:txBody>
          <a:bodyPr/>
          <a:lstStyle/>
          <a:p>
            <a:endParaRPr lang="en-US"/>
          </a:p>
        </p:txBody>
      </p:sp>
      <p:sp>
        <p:nvSpPr>
          <p:cNvPr id="12" name="Text 9"/>
          <p:cNvSpPr/>
          <p:nvPr/>
        </p:nvSpPr>
        <p:spPr>
          <a:xfrm>
            <a:off x="320040" y="2194560"/>
            <a:ext cx="1005840" cy="8046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Step 2</a:t>
            </a:r>
            <a:endParaRPr lang="en-US" sz="1200" dirty="0"/>
          </a:p>
        </p:txBody>
      </p:sp>
      <p:sp>
        <p:nvSpPr>
          <p:cNvPr id="13" name="Text 10"/>
          <p:cNvSpPr/>
          <p:nvPr/>
        </p:nvSpPr>
        <p:spPr>
          <a:xfrm>
            <a:off x="1463040" y="2240280"/>
            <a:ext cx="2743200" cy="347472"/>
          </a:xfrm>
          <a:prstGeom prst="rect">
            <a:avLst/>
          </a:prstGeom>
          <a:noFill/>
          <a:ln/>
        </p:spPr>
        <p:txBody>
          <a:bodyPr wrap="square" lIns="0" tIns="0" rIns="0" bIns="0" rtlCol="0" anchor="ctr"/>
          <a:lstStyle/>
          <a:p>
            <a:pPr marL="0" indent="0">
              <a:buNone/>
            </a:pPr>
            <a:r>
              <a:rPr lang="en-US" sz="1400" b="1" dirty="0">
                <a:solidFill>
                  <a:srgbClr val="1A2B4A"/>
                </a:solidFill>
                <a:latin typeface="Calibri" pitchFamily="34" charset="0"/>
                <a:ea typeface="Calibri" pitchFamily="34" charset="-122"/>
                <a:cs typeface="Calibri" pitchFamily="34" charset="-120"/>
              </a:rPr>
              <a:t>💾  Schedule Persistence</a:t>
            </a:r>
            <a:endParaRPr lang="en-US" sz="1400" dirty="0"/>
          </a:p>
        </p:txBody>
      </p:sp>
      <p:sp>
        <p:nvSpPr>
          <p:cNvPr id="14" name="Text 11"/>
          <p:cNvSpPr/>
          <p:nvPr/>
        </p:nvSpPr>
        <p:spPr>
          <a:xfrm>
            <a:off x="1463040" y="2578608"/>
            <a:ext cx="7223760" cy="32004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Add SQLite → PostgreSQL storage for multi-week plans and historical snapshots</a:t>
            </a:r>
            <a:endParaRPr lang="en-US" sz="1200" dirty="0"/>
          </a:p>
        </p:txBody>
      </p:sp>
      <p:sp>
        <p:nvSpPr>
          <p:cNvPr id="15" name="Shape 12"/>
          <p:cNvSpPr/>
          <p:nvPr/>
        </p:nvSpPr>
        <p:spPr>
          <a:xfrm>
            <a:off x="320040" y="3154680"/>
            <a:ext cx="8503920" cy="804672"/>
          </a:xfrm>
          <a:prstGeom prst="rect">
            <a:avLst/>
          </a:prstGeom>
          <a:solidFill>
            <a:srgbClr val="FFFFFF"/>
          </a:solidFill>
          <a:ln w="1270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sp>
        <p:nvSpPr>
          <p:cNvPr id="16" name="Shape 13"/>
          <p:cNvSpPr/>
          <p:nvPr/>
        </p:nvSpPr>
        <p:spPr>
          <a:xfrm>
            <a:off x="320040" y="3154680"/>
            <a:ext cx="1005840" cy="804672"/>
          </a:xfrm>
          <a:prstGeom prst="rect">
            <a:avLst/>
          </a:prstGeom>
          <a:solidFill>
            <a:srgbClr val="F59E0B"/>
          </a:solidFill>
          <a:ln w="12700">
            <a:solidFill>
              <a:srgbClr val="F59E0B"/>
            </a:solidFill>
            <a:prstDash val="solid"/>
          </a:ln>
        </p:spPr>
        <p:txBody>
          <a:bodyPr/>
          <a:lstStyle/>
          <a:p>
            <a:endParaRPr lang="en-US"/>
          </a:p>
        </p:txBody>
      </p:sp>
      <p:sp>
        <p:nvSpPr>
          <p:cNvPr id="17" name="Text 14"/>
          <p:cNvSpPr/>
          <p:nvPr/>
        </p:nvSpPr>
        <p:spPr>
          <a:xfrm>
            <a:off x="320040" y="3154680"/>
            <a:ext cx="1005840" cy="8046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Step 3</a:t>
            </a:r>
            <a:endParaRPr lang="en-US" sz="1200" dirty="0"/>
          </a:p>
        </p:txBody>
      </p:sp>
      <p:sp>
        <p:nvSpPr>
          <p:cNvPr id="18" name="Text 15"/>
          <p:cNvSpPr/>
          <p:nvPr/>
        </p:nvSpPr>
        <p:spPr>
          <a:xfrm>
            <a:off x="1463040" y="3200400"/>
            <a:ext cx="2743200" cy="347472"/>
          </a:xfrm>
          <a:prstGeom prst="rect">
            <a:avLst/>
          </a:prstGeom>
          <a:noFill/>
          <a:ln/>
        </p:spPr>
        <p:txBody>
          <a:bodyPr wrap="square" lIns="0" tIns="0" rIns="0" bIns="0" rtlCol="0" anchor="ctr"/>
          <a:lstStyle/>
          <a:p>
            <a:pPr marL="0" indent="0">
              <a:buNone/>
            </a:pPr>
            <a:r>
              <a:rPr lang="en-US" sz="1400" b="1" dirty="0">
                <a:solidFill>
                  <a:srgbClr val="1A2B4A"/>
                </a:solidFill>
                <a:latin typeface="Calibri" pitchFamily="34" charset="0"/>
                <a:ea typeface="Calibri" pitchFamily="34" charset="-122"/>
                <a:cs typeface="Calibri" pitchFamily="34" charset="-120"/>
              </a:rPr>
              <a:t>🔐  Full User Accounts</a:t>
            </a:r>
            <a:endParaRPr lang="en-US" sz="1400" dirty="0"/>
          </a:p>
        </p:txBody>
      </p:sp>
      <p:sp>
        <p:nvSpPr>
          <p:cNvPr id="19" name="Text 16"/>
          <p:cNvSpPr/>
          <p:nvPr/>
        </p:nvSpPr>
        <p:spPr>
          <a:xfrm>
            <a:off x="1463040" y="3538728"/>
            <a:ext cx="7223760" cy="32004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Upgrade cookie-session auth to OAuth / Clerk with multi-week trend tracking per user</a:t>
            </a:r>
            <a:endParaRPr lang="en-US" sz="1200" dirty="0"/>
          </a:p>
        </p:txBody>
      </p:sp>
      <p:sp>
        <p:nvSpPr>
          <p:cNvPr id="20" name="Shape 17"/>
          <p:cNvSpPr/>
          <p:nvPr/>
        </p:nvSpPr>
        <p:spPr>
          <a:xfrm>
            <a:off x="320040" y="4114800"/>
            <a:ext cx="8503920" cy="804672"/>
          </a:xfrm>
          <a:prstGeom prst="rect">
            <a:avLst/>
          </a:prstGeom>
          <a:solidFill>
            <a:srgbClr val="FFFFFF"/>
          </a:solidFill>
          <a:ln w="1270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sp>
        <p:nvSpPr>
          <p:cNvPr id="21" name="Shape 18"/>
          <p:cNvSpPr/>
          <p:nvPr/>
        </p:nvSpPr>
        <p:spPr>
          <a:xfrm>
            <a:off x="320040" y="4114800"/>
            <a:ext cx="1005840" cy="804672"/>
          </a:xfrm>
          <a:prstGeom prst="rect">
            <a:avLst/>
          </a:prstGeom>
          <a:solidFill>
            <a:srgbClr val="22C55E"/>
          </a:solidFill>
          <a:ln w="12700">
            <a:solidFill>
              <a:srgbClr val="22C55E"/>
            </a:solidFill>
            <a:prstDash val="solid"/>
          </a:ln>
        </p:spPr>
        <p:txBody>
          <a:bodyPr/>
          <a:lstStyle/>
          <a:p>
            <a:endParaRPr lang="en-US"/>
          </a:p>
        </p:txBody>
      </p:sp>
      <p:sp>
        <p:nvSpPr>
          <p:cNvPr id="22" name="Text 19"/>
          <p:cNvSpPr/>
          <p:nvPr/>
        </p:nvSpPr>
        <p:spPr>
          <a:xfrm>
            <a:off x="320040" y="4114800"/>
            <a:ext cx="1005840" cy="8046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Step 4</a:t>
            </a:r>
            <a:endParaRPr lang="en-US" sz="1200" dirty="0"/>
          </a:p>
        </p:txBody>
      </p:sp>
      <p:sp>
        <p:nvSpPr>
          <p:cNvPr id="23" name="Text 20"/>
          <p:cNvSpPr/>
          <p:nvPr/>
        </p:nvSpPr>
        <p:spPr>
          <a:xfrm>
            <a:off x="1463040" y="4160520"/>
            <a:ext cx="2743200" cy="347472"/>
          </a:xfrm>
          <a:prstGeom prst="rect">
            <a:avLst/>
          </a:prstGeom>
          <a:noFill/>
          <a:ln/>
        </p:spPr>
        <p:txBody>
          <a:bodyPr wrap="square" lIns="0" tIns="0" rIns="0" bIns="0" rtlCol="0" anchor="ctr"/>
          <a:lstStyle/>
          <a:p>
            <a:pPr marL="0" indent="0">
              <a:buNone/>
            </a:pPr>
            <a:r>
              <a:rPr lang="en-US" sz="1400" b="1" dirty="0">
                <a:solidFill>
                  <a:srgbClr val="1A2B4A"/>
                </a:solidFill>
                <a:latin typeface="Calibri" pitchFamily="34" charset="0"/>
                <a:ea typeface="Calibri" pitchFamily="34" charset="-122"/>
                <a:cs typeface="Calibri" pitchFamily="34" charset="-120"/>
              </a:rPr>
              <a:t>🏥  Campus Integration</a:t>
            </a:r>
            <a:endParaRPr lang="en-US" sz="1400" dirty="0"/>
          </a:p>
        </p:txBody>
      </p:sp>
      <p:sp>
        <p:nvSpPr>
          <p:cNvPr id="24" name="Text 21"/>
          <p:cNvSpPr/>
          <p:nvPr/>
        </p:nvSpPr>
        <p:spPr>
          <a:xfrm>
            <a:off x="1463040" y="4498848"/>
            <a:ext cx="7223760" cy="32004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Optional pathways to student wellness resources when risk stays elevated across multiple weeks</a:t>
            </a:r>
            <a:endParaRPr lang="en-US" sz="1200" dirty="0"/>
          </a:p>
        </p:txBody>
      </p:sp>
    </p:spTree>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2B4A"/>
        </a:solidFill>
        <a:effectLst/>
      </p:bgPr>
    </p:bg>
    <p:spTree>
      <p:nvGrpSpPr>
        <p:cNvPr id="1" name=""/>
        <p:cNvGrpSpPr/>
        <p:nvPr/>
      </p:nvGrpSpPr>
      <p:grpSpPr>
        <a:xfrm>
          <a:off x="0" y="0"/>
          <a:ext cx="0" cy="0"/>
          <a:chOff x="0" y="0"/>
          <a:chExt cx="0" cy="0"/>
        </a:xfrm>
      </p:grpSpPr>
      <p:sp>
        <p:nvSpPr>
          <p:cNvPr id="2" name="Shape 0"/>
          <p:cNvSpPr/>
          <p:nvPr/>
        </p:nvSpPr>
        <p:spPr>
          <a:xfrm>
            <a:off x="-457200" y="-457200"/>
            <a:ext cx="3200400" cy="3200400"/>
          </a:xfrm>
          <a:prstGeom prst="ellipse">
            <a:avLst/>
          </a:prstGeom>
          <a:solidFill>
            <a:srgbClr val="0D9488">
              <a:alpha val="15000"/>
            </a:srgbClr>
          </a:solidFill>
          <a:ln w="12700">
            <a:solidFill>
              <a:srgbClr val="0D9488">
                <a:alpha val="30000"/>
              </a:srgbClr>
            </a:solidFill>
            <a:prstDash val="solid"/>
          </a:ln>
        </p:spPr>
        <p:txBody>
          <a:bodyPr/>
          <a:lstStyle/>
          <a:p>
            <a:endParaRPr lang="en-US"/>
          </a:p>
        </p:txBody>
      </p:sp>
      <p:sp>
        <p:nvSpPr>
          <p:cNvPr id="3" name="Shape 1"/>
          <p:cNvSpPr/>
          <p:nvPr/>
        </p:nvSpPr>
        <p:spPr>
          <a:xfrm>
            <a:off x="6858000" y="3200400"/>
            <a:ext cx="2743200" cy="2743200"/>
          </a:xfrm>
          <a:prstGeom prst="ellipse">
            <a:avLst/>
          </a:prstGeom>
          <a:solidFill>
            <a:srgbClr val="14B8A6">
              <a:alpha val="12000"/>
            </a:srgbClr>
          </a:solidFill>
          <a:ln w="12700">
            <a:solidFill>
              <a:srgbClr val="14B8A6">
                <a:alpha val="25000"/>
              </a:srgbClr>
            </a:solidFill>
            <a:prstDash val="solid"/>
          </a:ln>
        </p:spPr>
        <p:txBody>
          <a:bodyPr/>
          <a:lstStyle/>
          <a:p>
            <a:endParaRPr lang="en-US"/>
          </a:p>
        </p:txBody>
      </p:sp>
      <p:sp>
        <p:nvSpPr>
          <p:cNvPr id="4" name="Shape 2"/>
          <p:cNvSpPr/>
          <p:nvPr/>
        </p:nvSpPr>
        <p:spPr>
          <a:xfrm>
            <a:off x="0" y="0"/>
            <a:ext cx="9144000" cy="54864"/>
          </a:xfrm>
          <a:prstGeom prst="rect">
            <a:avLst/>
          </a:prstGeom>
          <a:solidFill>
            <a:srgbClr val="0D9488"/>
          </a:solidFill>
          <a:ln w="12700">
            <a:solidFill>
              <a:srgbClr val="0D9488"/>
            </a:solidFill>
            <a:prstDash val="solid"/>
          </a:ln>
        </p:spPr>
        <p:txBody>
          <a:bodyPr/>
          <a:lstStyle/>
          <a:p>
            <a:endParaRPr lang="en-US"/>
          </a:p>
        </p:txBody>
      </p:sp>
      <p:pic>
        <p:nvPicPr>
          <p:cNvPr id="5" name="Image 0" descr="preencoded.png"/>
          <p:cNvPicPr>
            <a:picLocks noChangeAspect="1"/>
          </p:cNvPicPr>
          <p:nvPr/>
        </p:nvPicPr>
        <p:blipFill>
          <a:blip r:embed="rId4"/>
          <a:stretch>
            <a:fillRect/>
          </a:stretch>
        </p:blipFill>
        <p:spPr>
          <a:xfrm>
            <a:off x="3886200" y="502920"/>
            <a:ext cx="1371600" cy="1371600"/>
          </a:xfrm>
          <a:prstGeom prst="rect">
            <a:avLst/>
          </a:prstGeom>
        </p:spPr>
      </p:pic>
      <p:sp>
        <p:nvSpPr>
          <p:cNvPr id="6" name="Text 3"/>
          <p:cNvSpPr/>
          <p:nvPr/>
        </p:nvSpPr>
        <p:spPr>
          <a:xfrm>
            <a:off x="457200" y="1965960"/>
            <a:ext cx="8229600" cy="822960"/>
          </a:xfrm>
          <a:prstGeom prst="rect">
            <a:avLst/>
          </a:prstGeom>
          <a:noFill/>
          <a:ln/>
        </p:spPr>
        <p:txBody>
          <a:bodyPr wrap="square" lIns="0" tIns="0" rIns="0" bIns="0"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Burnout Sentinel</a:t>
            </a:r>
            <a:endParaRPr lang="en-US" sz="4400" dirty="0"/>
          </a:p>
        </p:txBody>
      </p:sp>
      <p:sp>
        <p:nvSpPr>
          <p:cNvPr id="7" name="Text 4"/>
          <p:cNvSpPr/>
          <p:nvPr/>
        </p:nvSpPr>
        <p:spPr>
          <a:xfrm>
            <a:off x="914400" y="2926080"/>
            <a:ext cx="7315200" cy="914400"/>
          </a:xfrm>
          <a:prstGeom prst="rect">
            <a:avLst/>
          </a:prstGeom>
          <a:noFill/>
          <a:ln/>
        </p:spPr>
        <p:txBody>
          <a:bodyPr wrap="square" lIns="0" tIns="0" rIns="0" bIns="0" rtlCol="0" anchor="ctr"/>
          <a:lstStyle/>
          <a:p>
            <a:pPr marL="0" indent="0" algn="ctr">
              <a:buNone/>
            </a:pPr>
            <a:r>
              <a:rPr lang="en-US" sz="1600" dirty="0">
                <a:solidFill>
                  <a:srgbClr val="A0C4C1"/>
                </a:solidFill>
                <a:latin typeface="Calibri" pitchFamily="34" charset="0"/>
                <a:ea typeface="Calibri" pitchFamily="34" charset="-122"/>
                <a:cs typeface="Calibri" pitchFamily="34" charset="-120"/>
              </a:rPr>
              <a:t>Turning weekly schedules into actionable risk insight,</a:t>
            </a:r>
            <a:r>
              <a:rPr lang="en-US" sz="1600" dirty="0"/>
              <a:t> </a:t>
            </a:r>
            <a:r>
              <a:rPr lang="en-US" sz="1600" dirty="0">
                <a:solidFill>
                  <a:srgbClr val="A0C4C1"/>
                </a:solidFill>
                <a:latin typeface="Calibri" pitchFamily="34" charset="0"/>
                <a:ea typeface="Calibri" pitchFamily="34" charset="-122"/>
                <a:cs typeface="Calibri" pitchFamily="34" charset="-120"/>
              </a:rPr>
              <a:t>so students can rebalance before overload becomes burnout.</a:t>
            </a:r>
            <a:endParaRPr lang="en-US" sz="1600" dirty="0"/>
          </a:p>
        </p:txBody>
      </p:sp>
      <p:sp>
        <p:nvSpPr>
          <p:cNvPr id="8" name="Shape 5"/>
          <p:cNvSpPr/>
          <p:nvPr/>
        </p:nvSpPr>
        <p:spPr>
          <a:xfrm>
            <a:off x="3200400" y="3977640"/>
            <a:ext cx="2743200" cy="640080"/>
          </a:xfrm>
          <a:prstGeom prst="rect">
            <a:avLst/>
          </a:prstGeom>
          <a:solidFill>
            <a:srgbClr val="0D9488"/>
          </a:solidFill>
          <a:ln w="12700">
            <a:solidFill>
              <a:srgbClr val="0D9488"/>
            </a:solidFill>
            <a:prstDash val="solid"/>
          </a:ln>
        </p:spPr>
        <p:txBody>
          <a:bodyPr/>
          <a:lstStyle/>
          <a:p>
            <a:endParaRPr lang="en-US"/>
          </a:p>
        </p:txBody>
      </p:sp>
      <p:sp>
        <p:nvSpPr>
          <p:cNvPr id="9" name="Text 6"/>
          <p:cNvSpPr/>
          <p:nvPr/>
        </p:nvSpPr>
        <p:spPr>
          <a:xfrm>
            <a:off x="3200400" y="3977640"/>
            <a:ext cx="274320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Thank You</a:t>
            </a:r>
            <a:endParaRPr lang="en-US" sz="2000" dirty="0"/>
          </a:p>
        </p:txBody>
      </p:sp>
    </p:spTree>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620</Words>
  <Application>Microsoft Macintosh PowerPoint</Application>
  <PresentationFormat>On-screen Show (16:9)</PresentationFormat>
  <Paragraphs>114</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Burnout Sentinel</dc:title>
  <dc:subject>PptxGenJS Presentation</dc:subject>
  <dc:creator>PptxGenJS</dc:creator>
  <cp:lastModifiedBy>Do, Duy</cp:lastModifiedBy>
  <cp:revision>3</cp:revision>
  <dcterms:created xsi:type="dcterms:W3CDTF">2026-04-19T06:00:20Z</dcterms:created>
  <dcterms:modified xsi:type="dcterms:W3CDTF">2026-04-19T06:42:29Z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e7542bc-63e5-412b-b0a0-d9586028a7d0_Enabled">
    <vt:lpwstr>true</vt:lpwstr>
  </property>
  <property fmtid="{D5CDD505-2E9C-101B-9397-08002B2CF9AE}" pid="3" name="MSIP_Label_ae7542bc-63e5-412b-b0a0-d9586028a7d0_SetDate">
    <vt:lpwstr>2026-04-19T06:34:56Z</vt:lpwstr>
  </property>
  <property fmtid="{D5CDD505-2E9C-101B-9397-08002B2CF9AE}" pid="4" name="MSIP_Label_ae7542bc-63e5-412b-b0a0-d9586028a7d0_Method">
    <vt:lpwstr>Standard</vt:lpwstr>
  </property>
  <property fmtid="{D5CDD505-2E9C-101B-9397-08002B2CF9AE}" pid="5" name="MSIP_Label_ae7542bc-63e5-412b-b0a0-d9586028a7d0_Name">
    <vt:lpwstr>Sensitive</vt:lpwstr>
  </property>
  <property fmtid="{D5CDD505-2E9C-101B-9397-08002B2CF9AE}" pid="6" name="MSIP_Label_ae7542bc-63e5-412b-b0a0-d9586028a7d0_SiteId">
    <vt:lpwstr>d8999fe4-76af-40b3-b435-1d8977abc08c</vt:lpwstr>
  </property>
  <property fmtid="{D5CDD505-2E9C-101B-9397-08002B2CF9AE}" pid="7" name="MSIP_Label_ae7542bc-63e5-412b-b0a0-d9586028a7d0_ActionId">
    <vt:lpwstr>233ea988-a9bd-474c-b1ca-143cceb6a29b</vt:lpwstr>
  </property>
  <property fmtid="{D5CDD505-2E9C-101B-9397-08002B2CF9AE}" pid="8" name="MSIP_Label_ae7542bc-63e5-412b-b0a0-d9586028a7d0_ContentBits">
    <vt:lpwstr>0</vt:lpwstr>
  </property>
  <property fmtid="{D5CDD505-2E9C-101B-9397-08002B2CF9AE}" pid="9" name="MSIP_Label_ae7542bc-63e5-412b-b0a0-d9586028a7d0_Tag">
    <vt:lpwstr>50, 3, 0, 1</vt:lpwstr>
  </property>
</Properties>
</file>